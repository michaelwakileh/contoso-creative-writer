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five minutes I will compare three desktop coding agents: Claude Code in the Claude Desktop app, Codex in the ChatGPT desktop app, and the OpenCode desktop app.
The question: when I point one of them at a local repository, what can it touch, and what stops damage outside that folder?
Sources are official docs, open-source code where available, and public incident reports, as of September 2026. Treat it as a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framing first. An agent in a repository runs a shell with your user rights. The folder is not a wall.
Three kinds of protection. The policy layer lives inside the agent: prompts, allow and deny lists, and in Claude's case a classifier. It reads the command text, so an approved command or a script can slip through.
The OS layer uses the kernel, which refuses the write whatever the command says.
The isolation layer is a VM, container or cloud session.
All three have the first layer. They differ on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Desktop first. A Local session on Windows uses Git Bash running as you, and Anthropic's setup table says sandboxing is not supported on native Windows, only in WSL 2.
The policy layer is the strongest of the three. Manual mode writes only inside the project. Auto mode has a second model review every command and block things like rm -rf on home or curl piped to bash. Deleting root, home or the project's parent always prompts.
But once approved, Git Bash does what it says. For real enforcement, use the WSL environment with the sandbox on, or a Cloud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now a mode in the ChatGPT desktop app, takes the opposite approach: the sandbox is kernel-enforced on all platforms.
macOS uses Seatbelt, Linux and WSL use bubblewrap and seccomp, and it is the only one with a native Windows sandbox, based on restricted tokens, ACLs and firewall rules.
The default for a trusted folder is Auto: write only inside the workspace, network off. When a command hits the wall, Codex asks to rerun it outside the sandbox. That approval is where protection ends.
The Windows sandbox is alpha, and the serious deletion reports all involved Full access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OpenCode Desktop is an Electron front end over the same runtime as the terminal version. The source shows the shell tool spawning your command directly. There is no sandbox wrapper on any platform. On Windows it prefers PowerShell, then Git Bash.
The defaults are the most permissive: bash, edit and web fetch run without prompts. Only leaving the project directory prompts, and approving it opens the whole parent folder. Per-pattern rules can tighten this, but that is on you.
The upside: open source, auditable, local models, and the server can run in WSL or a container, which the next slide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I do with OpenCode what I do with Claude, and run the agent inside Ubuntu on WSL 2?
Half of it, yes. OpenCode Desktop has a built-in WSL mode: it starts its server inside the distro and the app talks to it over HTTP. It can also attach to any server you run yourself, in a container or behind an SSH port forward.
The other half, no. Inside the distro Claude Code uses bubblewrap and socat to enforce its sandbox. OpenCode has no such code, so WSL alone changes where commands run, not what they may touch. For a real wall, run its server in Docker Sandboxes or a container and connect the GUI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sandboxing picture in one table.
On macOS and Linux, Claude Code and Codex both have kernel sandboxes. Codex is on by default; Claude Code needs the sandbox command once.
On native Windows, only Codex has one, and it is alpha. OpenCode has none anywhere.
Network: Codex cuts it inside the sandbox, Claude routes through an allowlist proxy, OpenCode allows it by default.
Every product has an escape hatch; in OpenCode there is no wall to escape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Sandboxing is not the whole story.
Defaults: Claude starts in Auto with a classifier, Codex starts an untrusted folder read-only, OpenCode starts with almost everything allowed.
Destructive-command guards: Claude has explicit ones, Codex relies on the sandbox, OpenCode has only what you configure.
Prompt injection: Claude isolates web content, Codex cuts the network, OpenCode documents nothing specific.
OpenCode's share command uploads whole sessions to a public link; disable it at work.
Only Claude and Codex offer managed enterprise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theoretical. All three have public reports of deletions outside the repository.
Claude Code: a cleanup command with a stray tilde removed a Mac home directory, and Windows reports include Git Bash deleting across the C drive. The policy saw the command; the shell expanded the path afterwards.
Codex: the severe Windows case deleted ten workspace roots and Program Files folders, in Full access with approvals off. No verified sandbox escape.
OpenCode: a June 2026 report describes an entire drive cleared. There was only a prompt.
A prompt is not a boundary. The kernel or a VM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recommendations for Windows.
Claude Desktop: start sessions in the WSL environment and enable the sandbox once. Untrusted repos go to a Cloud session. Never enable Bypass on the host.
Codex: install the elevated Windows sandbox or run under WSL 2. Stay in Auto, and treat each "run outside the sandbox" approval as handing over full access.
OpenCode: the app has no wall, so put it in one: Docker Sandboxes, a dev container or a VM. Then set bash and edit to ask and disable sharing.
For all three: commit first, keep backups off the machine, and never point an agent at your home directory.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6400800" y="-1097280"/>
            <a:ext cx="4572000" cy="4572000"/>
          </a:xfrm>
          <a:prstGeom prst="ellipse">
            <a:avLst/>
          </a:prstGeom>
          <a:solidFill>
            <a:srgbClr val="141E33"/>
          </a:solidFill>
          <a:ln w="12700">
            <a:solidFill>
              <a:srgbClr val="141E33"/>
            </a:solidFill>
            <a:prstDash val="solid"/>
          </a:ln>
        </p:spPr>
      </p:sp>
      <p:sp>
        <p:nvSpPr>
          <p:cNvPr id="3" name="Shape 1"/>
          <p:cNvSpPr/>
          <p:nvPr/>
        </p:nvSpPr>
        <p:spPr>
          <a:xfrm>
            <a:off x="457200" y="731520"/>
            <a:ext cx="822960" cy="822960"/>
          </a:xfrm>
          <a:prstGeom prst="ellipse">
            <a:avLst/>
          </a:prstGeom>
          <a:solidFill>
            <a:srgbClr val="F5B341"/>
          </a:solidFill>
          <a:ln w="12700">
            <a:solidFill>
              <a:srgbClr val="F5B341"/>
            </a:solidFill>
            <a:prstDash val="solid"/>
          </a:ln>
        </p:spPr>
      </p:sp>
      <p:pic>
        <p:nvPicPr>
          <p:cNvPr id="4" name="Image 0" descr="preencoded.png">    </p:cNvPr>
          <p:cNvPicPr>
            <a:picLocks noChangeAspect="1"/>
          </p:cNvPicPr>
          <p:nvPr/>
        </p:nvPicPr>
        <p:blipFill>
          <a:blip r:embed="rId1"/>
          <a:stretch>
            <a:fillRect/>
          </a:stretch>
        </p:blipFill>
        <p:spPr>
          <a:xfrm>
            <a:off x="662940" y="937260"/>
            <a:ext cx="411480" cy="411480"/>
          </a:xfrm>
          <a:prstGeom prst="rect">
            <a:avLst/>
          </a:prstGeom>
        </p:spPr>
      </p:pic>
      <p:sp>
        <p:nvSpPr>
          <p:cNvPr id="5" name="Text 2"/>
          <p:cNvSpPr txBox="1"/>
          <p:nvPr/>
        </p:nvSpPr>
        <p:spPr>
          <a:xfrm>
            <a:off x="457200" y="1691640"/>
            <a:ext cx="8229600" cy="1463040"/>
          </a:xfrm>
          <a:prstGeom prst="rect">
            <a:avLst/>
          </a:prstGeom>
          <a:noFill/>
          <a:ln/>
        </p:spPr>
        <p:txBody>
          <a:bodyPr wrap="square" lIns="0" tIns="0" rIns="0" bIns="0" rtlCol="0" anchor="t"/>
          <a:lstStyle/>
          <a:p>
            <a:pPr indent="0" marL="0">
              <a:buNone/>
            </a:pPr>
            <a:r>
              <a:rPr lang="en-US" sz="3200" b="1" dirty="0">
                <a:solidFill>
                  <a:srgbClr val="EAF0FA"/>
                </a:solidFill>
                <a:latin typeface="Calibri" pitchFamily="34" charset="0"/>
                <a:ea typeface="Calibri" pitchFamily="34" charset="-122"/>
                <a:cs typeface="Calibri" pitchFamily="34" charset="-120"/>
              </a:rPr>
              <a:t>Three Desktop Coding Agents,</a:t>
            </a:r>
            <a:endParaRPr lang="en-US" sz="3200" dirty="0"/>
          </a:p>
          <a:p>
            <a:pPr indent="0" marL="0">
              <a:buNone/>
            </a:pPr>
            <a:r>
              <a:rPr lang="en-US" sz="3200" b="1" dirty="0">
                <a:solidFill>
                  <a:srgbClr val="EAF0FA"/>
                </a:solidFill>
                <a:latin typeface="Calibri" pitchFamily="34" charset="0"/>
                <a:ea typeface="Calibri" pitchFamily="34" charset="-122"/>
                <a:cs typeface="Calibri" pitchFamily="34" charset="-120"/>
              </a:rPr>
              <a:t>Three Trust Boundaries</a:t>
            </a:r>
            <a:endParaRPr lang="en-US" sz="3200" dirty="0"/>
          </a:p>
        </p:txBody>
      </p:sp>
      <p:sp>
        <p:nvSpPr>
          <p:cNvPr id="6" name="Text 3"/>
          <p:cNvSpPr txBox="1"/>
          <p:nvPr/>
        </p:nvSpPr>
        <p:spPr>
          <a:xfrm>
            <a:off x="457200" y="3291840"/>
            <a:ext cx="6858000" cy="731520"/>
          </a:xfrm>
          <a:prstGeom prst="rect">
            <a:avLst/>
          </a:prstGeom>
          <a:noFill/>
          <a:ln/>
        </p:spPr>
        <p:txBody>
          <a:bodyPr wrap="square" lIns="0" tIns="0" rIns="0" bIns="0" rtlCol="0" anchor="ctr"/>
          <a:lstStyle/>
          <a:p>
            <a:pPr indent="0" marL="0">
              <a:buNone/>
            </a:pPr>
            <a:r>
              <a:rPr lang="en-US" sz="1500" dirty="0">
                <a:solidFill>
                  <a:srgbClr val="9FB0C8"/>
                </a:solidFill>
                <a:latin typeface="Calibri" pitchFamily="34" charset="0"/>
                <a:ea typeface="Calibri" pitchFamily="34" charset="-122"/>
                <a:cs typeface="Calibri" pitchFamily="34" charset="-120"/>
              </a:rPr>
              <a:t>Sandboxing and security when Claude Desktop (Claude Code), ChatGPT Desktop (Codex) and OpenCode Desktop work on a local repository</a:t>
            </a:r>
            <a:endParaRPr lang="en-US" sz="1500" dirty="0"/>
          </a:p>
        </p:txBody>
      </p:sp>
      <p:sp>
        <p:nvSpPr>
          <p:cNvPr id="7" name="Text 4"/>
          <p:cNvSpPr txBox="1"/>
          <p:nvPr/>
        </p:nvSpPr>
        <p:spPr>
          <a:xfrm>
            <a:off x="457200" y="4206240"/>
            <a:ext cx="7315200" cy="320040"/>
          </a:xfrm>
          <a:prstGeom prst="rect">
            <a:avLst/>
          </a:prstGeom>
          <a:noFill/>
          <a:ln/>
        </p:spPr>
        <p:txBody>
          <a:bodyPr wrap="square" lIns="0" tIns="0" rIns="0" bIns="0" rtlCol="0" anchor="ctr"/>
          <a:lstStyle/>
          <a:p>
            <a:pPr indent="0" marL="0">
              <a:buNone/>
            </a:pPr>
            <a:r>
              <a:rPr lang="en-US" sz="1200" i="1" dirty="0">
                <a:solidFill>
                  <a:srgbClr val="F5B341"/>
                </a:solidFill>
                <a:latin typeface="Calibri" pitchFamily="34" charset="0"/>
                <a:ea typeface="Calibri" pitchFamily="34" charset="-122"/>
                <a:cs typeface="Calibri" pitchFamily="34" charset="-120"/>
              </a:rPr>
              <a:t>5-minute briefing  ·  State of the products as of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Where is the boundary?</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Two very different kinds of protection are easy to confuse</a:t>
            </a:r>
            <a:endParaRPr lang="en-US" sz="1300" dirty="0"/>
          </a:p>
        </p:txBody>
      </p:sp>
      <p:sp>
        <p:nvSpPr>
          <p:cNvPr id="4" name="Shape 2"/>
          <p:cNvSpPr/>
          <p:nvPr/>
        </p:nvSpPr>
        <p:spPr>
          <a:xfrm>
            <a:off x="457200" y="1371600"/>
            <a:ext cx="3840480" cy="3200400"/>
          </a:xfrm>
          <a:prstGeom prst="roundRect">
            <a:avLst>
              <a:gd name="adj" fmla="val 3429"/>
            </a:avLst>
          </a:prstGeom>
          <a:solidFill>
            <a:srgbClr val="141E33"/>
          </a:solidFill>
          <a:ln w="12700">
            <a:solidFill>
              <a:srgbClr val="2B3A57"/>
            </a:solidFill>
            <a:prstDash val="solid"/>
          </a:ln>
        </p:spPr>
      </p:sp>
      <p:sp>
        <p:nvSpPr>
          <p:cNvPr id="5" name="Text 3"/>
          <p:cNvSpPr txBox="1"/>
          <p:nvPr/>
        </p:nvSpPr>
        <p:spPr>
          <a:xfrm>
            <a:off x="640080" y="1463040"/>
            <a:ext cx="3474720" cy="274320"/>
          </a:xfrm>
          <a:prstGeom prst="rect">
            <a:avLst/>
          </a:prstGeom>
          <a:noFill/>
          <a:ln/>
        </p:spPr>
        <p:txBody>
          <a:bodyPr wrap="square" lIns="0" tIns="0" rIns="0" bIns="0" rtlCol="0" anchor="ctr"/>
          <a:lstStyle/>
          <a:p>
            <a:pPr indent="0" marL="0">
              <a:buNone/>
            </a:pPr>
            <a:r>
              <a:rPr lang="en-US" sz="1200" dirty="0">
                <a:solidFill>
                  <a:srgbClr val="9FB0C8"/>
                </a:solidFill>
                <a:latin typeface="Calibri" pitchFamily="34" charset="0"/>
                <a:ea typeface="Calibri" pitchFamily="34" charset="-122"/>
                <a:cs typeface="Calibri" pitchFamily="34" charset="-120"/>
              </a:rPr>
              <a:t>Your machine (full user rights)</a:t>
            </a:r>
            <a:endParaRPr lang="en-US" sz="1200" dirty="0"/>
          </a:p>
        </p:txBody>
      </p:sp>
      <p:sp>
        <p:nvSpPr>
          <p:cNvPr id="6" name="Shape 4"/>
          <p:cNvSpPr/>
          <p:nvPr/>
        </p:nvSpPr>
        <p:spPr>
          <a:xfrm>
            <a:off x="731520" y="1828800"/>
            <a:ext cx="3291840" cy="2560320"/>
          </a:xfrm>
          <a:prstGeom prst="roundRect">
            <a:avLst>
              <a:gd name="adj" fmla="val 3571"/>
            </a:avLst>
          </a:prstGeom>
          <a:solidFill>
            <a:srgbClr val="1B2740"/>
          </a:solidFill>
          <a:ln w="12700">
            <a:solidFill>
              <a:srgbClr val="2B3A57"/>
            </a:solidFill>
            <a:prstDash val="solid"/>
          </a:ln>
        </p:spPr>
      </p:sp>
      <p:sp>
        <p:nvSpPr>
          <p:cNvPr id="7" name="Text 5"/>
          <p:cNvSpPr txBox="1"/>
          <p:nvPr/>
        </p:nvSpPr>
        <p:spPr>
          <a:xfrm>
            <a:off x="914400" y="1920240"/>
            <a:ext cx="3017520" cy="320040"/>
          </a:xfrm>
          <a:prstGeom prst="rect">
            <a:avLst/>
          </a:prstGeom>
          <a:noFill/>
          <a:ln/>
        </p:spPr>
        <p:txBody>
          <a:bodyPr wrap="square" lIns="0" tIns="0" rIns="0" bIns="0" rtlCol="0" anchor="ctr"/>
          <a:lstStyle/>
          <a:p>
            <a:pPr indent="0" marL="0">
              <a:buNone/>
            </a:pPr>
            <a:r>
              <a:rPr lang="en-US" sz="1200" dirty="0">
                <a:solidFill>
                  <a:srgbClr val="9FB0C8"/>
                </a:solidFill>
                <a:latin typeface="Calibri" pitchFamily="34" charset="0"/>
                <a:ea typeface="Calibri" pitchFamily="34" charset="-122"/>
                <a:cs typeface="Calibri" pitchFamily="34" charset="-120"/>
              </a:rPr>
              <a:t>Home folder: SSH keys, .aws, documents, photos</a:t>
            </a:r>
            <a:endParaRPr lang="en-US" sz="1200" dirty="0"/>
          </a:p>
        </p:txBody>
      </p:sp>
      <p:sp>
        <p:nvSpPr>
          <p:cNvPr id="8" name="Shape 6"/>
          <p:cNvSpPr/>
          <p:nvPr/>
        </p:nvSpPr>
        <p:spPr>
          <a:xfrm>
            <a:off x="1005840" y="2377440"/>
            <a:ext cx="2743200" cy="1737360"/>
          </a:xfrm>
          <a:prstGeom prst="roundRect">
            <a:avLst>
              <a:gd name="adj" fmla="val 4211"/>
            </a:avLst>
          </a:prstGeom>
          <a:solidFill>
            <a:srgbClr val="0B1220"/>
          </a:solidFill>
          <a:ln w="19050">
            <a:solidFill>
              <a:srgbClr val="F5B341"/>
            </a:solidFill>
            <a:prstDash val="solid"/>
          </a:ln>
        </p:spPr>
      </p:sp>
      <p:sp>
        <p:nvSpPr>
          <p:cNvPr id="9" name="Shape 7"/>
          <p:cNvSpPr/>
          <p:nvPr/>
        </p:nvSpPr>
        <p:spPr>
          <a:xfrm>
            <a:off x="1188720" y="2560320"/>
            <a:ext cx="457200" cy="457200"/>
          </a:xfrm>
          <a:prstGeom prst="ellipse">
            <a:avLst/>
          </a:prstGeom>
          <a:solidFill>
            <a:srgbClr val="F5B341"/>
          </a:solidFill>
          <a:ln w="12700">
            <a:solidFill>
              <a:srgbClr val="F5B341"/>
            </a:solidFill>
            <a:prstDash val="solid"/>
          </a:ln>
        </p:spPr>
      </p:sp>
      <p:pic>
        <p:nvPicPr>
          <p:cNvPr id="10" name="Image 0" descr="preencoded.png">    </p:cNvPr>
          <p:cNvPicPr>
            <a:picLocks noChangeAspect="1"/>
          </p:cNvPicPr>
          <p:nvPr/>
        </p:nvPicPr>
        <p:blipFill>
          <a:blip r:embed="rId1"/>
          <a:stretch>
            <a:fillRect/>
          </a:stretch>
        </p:blipFill>
        <p:spPr>
          <a:xfrm>
            <a:off x="1303020" y="2674620"/>
            <a:ext cx="228600" cy="228600"/>
          </a:xfrm>
          <a:prstGeom prst="rect">
            <a:avLst/>
          </a:prstGeom>
        </p:spPr>
      </p:pic>
      <p:sp>
        <p:nvSpPr>
          <p:cNvPr id="11" name="Text 8"/>
          <p:cNvSpPr txBox="1"/>
          <p:nvPr/>
        </p:nvSpPr>
        <p:spPr>
          <a:xfrm>
            <a:off x="1737360" y="2606040"/>
            <a:ext cx="1920240" cy="36576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Repository folder</a:t>
            </a:r>
            <a:endParaRPr lang="en-US" sz="1400" dirty="0"/>
          </a:p>
        </p:txBody>
      </p:sp>
      <p:sp>
        <p:nvSpPr>
          <p:cNvPr id="12" name="Text 9"/>
          <p:cNvSpPr txBox="1"/>
          <p:nvPr/>
        </p:nvSpPr>
        <p:spPr>
          <a:xfrm>
            <a:off x="1188720" y="3108960"/>
            <a:ext cx="2468880" cy="914400"/>
          </a:xfrm>
          <a:prstGeom prst="rect">
            <a:avLst/>
          </a:prstGeom>
          <a:noFill/>
          <a:ln/>
        </p:spPr>
        <p:txBody>
          <a:bodyPr wrap="square" lIns="0" tIns="0" rIns="0" bIns="0" rtlCol="0" anchor="ctr"/>
          <a:lstStyle/>
          <a:p>
            <a:pPr indent="0" marL="0">
              <a:buNone/>
            </a:pPr>
            <a:r>
              <a:rPr lang="en-US" sz="1100" dirty="0">
                <a:solidFill>
                  <a:srgbClr val="9FB0C8"/>
                </a:solidFill>
                <a:latin typeface="Calibri" pitchFamily="34" charset="0"/>
                <a:ea typeface="Calibri" pitchFamily="34" charset="-122"/>
                <a:cs typeface="Calibri" pitchFamily="34" charset="-120"/>
              </a:rPr>
              <a:t>The agent starts here. Its shell can run anything you could run, unless something enforces the border.</a:t>
            </a:r>
            <a:endParaRPr lang="en-US" sz="1100" dirty="0"/>
          </a:p>
        </p:txBody>
      </p:sp>
      <p:sp>
        <p:nvSpPr>
          <p:cNvPr id="13" name="Shape 10"/>
          <p:cNvSpPr/>
          <p:nvPr/>
        </p:nvSpPr>
        <p:spPr>
          <a:xfrm>
            <a:off x="4663440" y="1417320"/>
            <a:ext cx="457200" cy="457200"/>
          </a:xfrm>
          <a:prstGeom prst="ellipse">
            <a:avLst/>
          </a:prstGeom>
          <a:solidFill>
            <a:srgbClr val="5BA8FF"/>
          </a:solidFill>
          <a:ln w="12700">
            <a:solidFill>
              <a:srgbClr val="5BA8FF"/>
            </a:solidFill>
            <a:prstDash val="solid"/>
          </a:ln>
        </p:spPr>
      </p:sp>
      <p:pic>
        <p:nvPicPr>
          <p:cNvPr id="14" name="Image 1" descr="preencoded.png">    </p:cNvPr>
          <p:cNvPicPr>
            <a:picLocks noChangeAspect="1"/>
          </p:cNvPicPr>
          <p:nvPr/>
        </p:nvPicPr>
        <p:blipFill>
          <a:blip r:embed="rId2"/>
          <a:stretch>
            <a:fillRect/>
          </a:stretch>
        </p:blipFill>
        <p:spPr>
          <a:xfrm>
            <a:off x="4777740" y="1531620"/>
            <a:ext cx="228600" cy="228600"/>
          </a:xfrm>
          <a:prstGeom prst="rect">
            <a:avLst/>
          </a:prstGeom>
        </p:spPr>
      </p:pic>
      <p:sp>
        <p:nvSpPr>
          <p:cNvPr id="15" name="Text 11"/>
          <p:cNvSpPr txBox="1"/>
          <p:nvPr/>
        </p:nvSpPr>
        <p:spPr>
          <a:xfrm>
            <a:off x="5257800" y="1371600"/>
            <a:ext cx="3474720" cy="27432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Policy layer (inside the agent)</a:t>
            </a:r>
            <a:endParaRPr lang="en-US" sz="1400" dirty="0"/>
          </a:p>
        </p:txBody>
      </p:sp>
      <p:sp>
        <p:nvSpPr>
          <p:cNvPr id="16" name="Text 12"/>
          <p:cNvSpPr txBox="1"/>
          <p:nvPr/>
        </p:nvSpPr>
        <p:spPr>
          <a:xfrm>
            <a:off x="5257800" y="1645920"/>
            <a:ext cx="3474720" cy="731520"/>
          </a:xfrm>
          <a:prstGeom prst="rect">
            <a:avLst/>
          </a:prstGeom>
          <a:noFill/>
          <a:ln/>
        </p:spPr>
        <p:txBody>
          <a:bodyPr wrap="square" lIns="0" tIns="0" rIns="0" bIns="0" rtlCol="0" anchor="ctr"/>
          <a:lstStyle/>
          <a:p>
            <a:pPr indent="0" marL="0">
              <a:buNone/>
            </a:pPr>
            <a:r>
              <a:rPr lang="en-US" sz="1100" dirty="0">
                <a:solidFill>
                  <a:srgbClr val="9FB0C8"/>
                </a:solidFill>
                <a:latin typeface="Calibri" pitchFamily="34" charset="0"/>
                <a:ea typeface="Calibri" pitchFamily="34" charset="-122"/>
                <a:cs typeface="Calibri" pitchFamily="34" charset="-120"/>
              </a:rPr>
              <a:t>Permission prompts, allow/deny rules, classifiers. Evaluates the command text. Can be bypassed by an approved command, a subprocess, or a clever path.</a:t>
            </a:r>
            <a:endParaRPr lang="en-US" sz="1100" dirty="0"/>
          </a:p>
        </p:txBody>
      </p:sp>
      <p:sp>
        <p:nvSpPr>
          <p:cNvPr id="17" name="Shape 13"/>
          <p:cNvSpPr/>
          <p:nvPr/>
        </p:nvSpPr>
        <p:spPr>
          <a:xfrm>
            <a:off x="4663440" y="2514600"/>
            <a:ext cx="457200" cy="457200"/>
          </a:xfrm>
          <a:prstGeom prst="ellipse">
            <a:avLst/>
          </a:prstGeom>
          <a:solidFill>
            <a:srgbClr val="3DD68C"/>
          </a:solidFill>
          <a:ln w="12700">
            <a:solidFill>
              <a:srgbClr val="3DD68C"/>
            </a:solidFill>
            <a:prstDash val="solid"/>
          </a:ln>
        </p:spPr>
      </p:sp>
      <p:pic>
        <p:nvPicPr>
          <p:cNvPr id="18" name="Image 2" descr="preencoded.png">    </p:cNvPr>
          <p:cNvPicPr>
            <a:picLocks noChangeAspect="1"/>
          </p:cNvPicPr>
          <p:nvPr/>
        </p:nvPicPr>
        <p:blipFill>
          <a:blip r:embed="rId3"/>
          <a:stretch>
            <a:fillRect/>
          </a:stretch>
        </p:blipFill>
        <p:spPr>
          <a:xfrm>
            <a:off x="4777740" y="2628900"/>
            <a:ext cx="228600" cy="228600"/>
          </a:xfrm>
          <a:prstGeom prst="rect">
            <a:avLst/>
          </a:prstGeom>
        </p:spPr>
      </p:pic>
      <p:sp>
        <p:nvSpPr>
          <p:cNvPr id="19" name="Text 14"/>
          <p:cNvSpPr txBox="1"/>
          <p:nvPr/>
        </p:nvSpPr>
        <p:spPr>
          <a:xfrm>
            <a:off x="5257800" y="2468880"/>
            <a:ext cx="3474720" cy="27432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OS enforcement layer (kernel)</a:t>
            </a:r>
            <a:endParaRPr lang="en-US" sz="1400" dirty="0"/>
          </a:p>
        </p:txBody>
      </p:sp>
      <p:sp>
        <p:nvSpPr>
          <p:cNvPr id="20" name="Text 15"/>
          <p:cNvSpPr txBox="1"/>
          <p:nvPr/>
        </p:nvSpPr>
        <p:spPr>
          <a:xfrm>
            <a:off x="5257800" y="2743200"/>
            <a:ext cx="3474720" cy="731520"/>
          </a:xfrm>
          <a:prstGeom prst="rect">
            <a:avLst/>
          </a:prstGeom>
          <a:noFill/>
          <a:ln/>
        </p:spPr>
        <p:txBody>
          <a:bodyPr wrap="square" lIns="0" tIns="0" rIns="0" bIns="0" rtlCol="0" anchor="ctr"/>
          <a:lstStyle/>
          <a:p>
            <a:pPr indent="0" marL="0">
              <a:buNone/>
            </a:pPr>
            <a:r>
              <a:rPr lang="en-US" sz="1100" dirty="0">
                <a:solidFill>
                  <a:srgbClr val="9FB0C8"/>
                </a:solidFill>
                <a:latin typeface="Calibri" pitchFamily="34" charset="0"/>
                <a:ea typeface="Calibri" pitchFamily="34" charset="-122"/>
                <a:cs typeface="Calibri" pitchFamily="34" charset="-120"/>
              </a:rPr>
              <a:t>Seatbelt, bubblewrap/seccomp, Landlock, restricted tokens. The operating system refuses writes and network access outside the allowed set, whatever the command says.</a:t>
            </a:r>
            <a:endParaRPr lang="en-US" sz="1100" dirty="0"/>
          </a:p>
        </p:txBody>
      </p:sp>
      <p:sp>
        <p:nvSpPr>
          <p:cNvPr id="21" name="Shape 16"/>
          <p:cNvSpPr/>
          <p:nvPr/>
        </p:nvSpPr>
        <p:spPr>
          <a:xfrm>
            <a:off x="4663440" y="3611880"/>
            <a:ext cx="457200" cy="457200"/>
          </a:xfrm>
          <a:prstGeom prst="ellipse">
            <a:avLst/>
          </a:prstGeom>
          <a:solidFill>
            <a:srgbClr val="F5B341"/>
          </a:solidFill>
          <a:ln w="12700">
            <a:solidFill>
              <a:srgbClr val="F5B341"/>
            </a:solidFill>
            <a:prstDash val="solid"/>
          </a:ln>
        </p:spPr>
      </p:sp>
      <p:pic>
        <p:nvPicPr>
          <p:cNvPr id="22" name="Image 3" descr="preencoded.png">    </p:cNvPr>
          <p:cNvPicPr>
            <a:picLocks noChangeAspect="1"/>
          </p:cNvPicPr>
          <p:nvPr/>
        </p:nvPicPr>
        <p:blipFill>
          <a:blip r:embed="rId4"/>
          <a:stretch>
            <a:fillRect/>
          </a:stretch>
        </p:blipFill>
        <p:spPr>
          <a:xfrm>
            <a:off x="4777740" y="3726180"/>
            <a:ext cx="228600" cy="228600"/>
          </a:xfrm>
          <a:prstGeom prst="rect">
            <a:avLst/>
          </a:prstGeom>
        </p:spPr>
      </p:pic>
      <p:sp>
        <p:nvSpPr>
          <p:cNvPr id="23" name="Text 17"/>
          <p:cNvSpPr txBox="1"/>
          <p:nvPr/>
        </p:nvSpPr>
        <p:spPr>
          <a:xfrm>
            <a:off x="5257800" y="3566160"/>
            <a:ext cx="3474720" cy="27432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Isolation layer (VM / container / cloud)</a:t>
            </a:r>
            <a:endParaRPr lang="en-US" sz="1400" dirty="0"/>
          </a:p>
        </p:txBody>
      </p:sp>
      <p:sp>
        <p:nvSpPr>
          <p:cNvPr id="24" name="Text 18"/>
          <p:cNvSpPr txBox="1"/>
          <p:nvPr/>
        </p:nvSpPr>
        <p:spPr>
          <a:xfrm>
            <a:off x="5257800" y="3840480"/>
            <a:ext cx="3474720" cy="731520"/>
          </a:xfrm>
          <a:prstGeom prst="rect">
            <a:avLst/>
          </a:prstGeom>
          <a:noFill/>
          <a:ln/>
        </p:spPr>
        <p:txBody>
          <a:bodyPr wrap="square" lIns="0" tIns="0" rIns="0" bIns="0" rtlCol="0" anchor="ctr"/>
          <a:lstStyle/>
          <a:p>
            <a:pPr indent="0" marL="0">
              <a:buNone/>
            </a:pPr>
            <a:r>
              <a:rPr lang="en-US" sz="1100" dirty="0">
                <a:solidFill>
                  <a:srgbClr val="9FB0C8"/>
                </a:solidFill>
                <a:latin typeface="Calibri" pitchFamily="34" charset="0"/>
                <a:ea typeface="Calibri" pitchFamily="34" charset="-122"/>
                <a:cs typeface="Calibri" pitchFamily="34" charset="-120"/>
              </a:rPr>
              <a:t>The agent runs in a throwaway machine. Worst case is contained. Cloud sessions, WSL, dev containers, Docker sandboxes.</a:t>
            </a:r>
            <a:endParaRPr lang="en-US" sz="1100" dirty="0"/>
          </a:p>
        </p:txBody>
      </p:sp>
      <p:sp>
        <p:nvSpPr>
          <p:cNvPr id="25" name="Text 19"/>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9FB0C8"/>
                </a:solidFill>
                <a:latin typeface="Calibri" pitchFamily="34" charset="0"/>
                <a:ea typeface="Calibri" pitchFamily="34" charset="-122"/>
                <a:cs typeface="Calibri" pitchFamily="34" charset="-120"/>
              </a:rPr>
              <a:t>The three products differ mainly in whether the second layer exists on your platform, and how the first layer is tuned by default.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Claude Desktop: Local session</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Strong policy layer; kernel sandbox exists, but not on native Windows</a:t>
            </a:r>
            <a:endParaRPr lang="en-US" sz="1300" dirty="0"/>
          </a:p>
        </p:txBody>
      </p:sp>
      <p:sp>
        <p:nvSpPr>
          <p:cNvPr id="4" name="Shape 2"/>
          <p:cNvSpPr/>
          <p:nvPr/>
        </p:nvSpPr>
        <p:spPr>
          <a:xfrm>
            <a:off x="457200" y="1325880"/>
            <a:ext cx="5029200" cy="3291840"/>
          </a:xfrm>
          <a:prstGeom prst="roundRect">
            <a:avLst>
              <a:gd name="adj" fmla="val 3333"/>
            </a:avLst>
          </a:prstGeom>
          <a:solidFill>
            <a:srgbClr val="141E33"/>
          </a:solidFill>
          <a:ln w="12700">
            <a:solidFill>
              <a:srgbClr val="2B3A57"/>
            </a:solidFill>
            <a:prstDash val="solid"/>
          </a:ln>
        </p:spPr>
      </p:sp>
      <p:sp>
        <p:nvSpPr>
          <p:cNvPr id="5" name="Text 3"/>
          <p:cNvSpPr txBox="1"/>
          <p:nvPr/>
        </p:nvSpPr>
        <p:spPr>
          <a:xfrm>
            <a:off x="685800" y="1417320"/>
            <a:ext cx="4572000" cy="320040"/>
          </a:xfrm>
          <a:prstGeom prst="rect">
            <a:avLst/>
          </a:prstGeom>
          <a:noFill/>
          <a:ln/>
        </p:spPr>
        <p:txBody>
          <a:bodyPr wrap="square" lIns="0" tIns="0" rIns="0" bIns="0" rtlCol="0" anchor="ctr"/>
          <a:lstStyle/>
          <a:p>
            <a:pPr indent="0" marL="0">
              <a:buNone/>
            </a:pPr>
            <a:r>
              <a:rPr lang="en-US" sz="1400" b="1" dirty="0">
                <a:solidFill>
                  <a:srgbClr val="F5B341"/>
                </a:solidFill>
                <a:latin typeface="Calibri" pitchFamily="34" charset="0"/>
                <a:ea typeface="Calibri" pitchFamily="34" charset="-122"/>
                <a:cs typeface="Calibri" pitchFamily="34" charset="-120"/>
              </a:rPr>
              <a:t>What runs on your Windows PC</a:t>
            </a:r>
            <a:endParaRPr lang="en-US" sz="1400" dirty="0"/>
          </a:p>
        </p:txBody>
      </p:sp>
      <p:sp>
        <p:nvSpPr>
          <p:cNvPr id="6" name="Text 4"/>
          <p:cNvSpPr txBox="1"/>
          <p:nvPr/>
        </p:nvSpPr>
        <p:spPr>
          <a:xfrm>
            <a:off x="685800" y="1783080"/>
            <a:ext cx="4663440" cy="27432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EAF0FA"/>
                </a:solidFill>
                <a:latin typeface="Calibri" pitchFamily="34" charset="0"/>
                <a:ea typeface="Calibri" pitchFamily="34" charset="-122"/>
                <a:cs typeface="Calibri" pitchFamily="34" charset="-120"/>
              </a:rPr>
              <a:t>Requires Git for Windows: the Bash tool is Git Bash, with your full user privileges. A PowerShell tool is available too.</a:t>
            </a:r>
            <a:endParaRPr lang="en-US" sz="1100" dirty="0"/>
          </a:p>
          <a:p>
            <a:pPr marL="152400" indent="-152400">
              <a:spcAft>
                <a:spcPts val="500"/>
              </a:spcAft>
              <a:buSzPct val="100000"/>
              <a:buChar char="•"/>
            </a:pPr>
            <a:r>
              <a:rPr lang="en-US" sz="1100" dirty="0">
                <a:solidFill>
                  <a:srgbClr val="EAF0FA"/>
                </a:solidFill>
                <a:latin typeface="Calibri" pitchFamily="34" charset="0"/>
                <a:ea typeface="Calibri" pitchFamily="34" charset="-122"/>
                <a:cs typeface="Calibri" pitchFamily="34" charset="-120"/>
              </a:rPr>
              <a:t>Official setup table: sandboxing on native Windows is "Not supported"; WSL 2 is "Supported".</a:t>
            </a:r>
            <a:endParaRPr lang="en-US" sz="1100" dirty="0"/>
          </a:p>
          <a:p>
            <a:pPr marL="152400" indent="-152400">
              <a:spcAft>
                <a:spcPts val="500"/>
              </a:spcAft>
              <a:buSzPct val="100000"/>
              <a:buChar char="•"/>
            </a:pPr>
            <a:r>
              <a:rPr lang="en-US" sz="1100" dirty="0">
                <a:solidFill>
                  <a:srgbClr val="EAF0FA"/>
                </a:solidFill>
                <a:latin typeface="Calibri" pitchFamily="34" charset="0"/>
                <a:ea typeface="Calibri" pitchFamily="34" charset="-122"/>
                <a:cs typeface="Calibri" pitchFamily="34" charset="-120"/>
              </a:rPr>
              <a:t>Manual mode: writes only inside the project folder; reads outside it prompt. Read-only shell commands (ls, cat, git status) run anywhere without asking.</a:t>
            </a:r>
            <a:endParaRPr lang="en-US" sz="1100" dirty="0"/>
          </a:p>
          <a:p>
            <a:pPr marL="152400" indent="-152400">
              <a:spcAft>
                <a:spcPts val="500"/>
              </a:spcAft>
              <a:buSzPct val="100000"/>
              <a:buChar char="•"/>
            </a:pPr>
            <a:r>
              <a:rPr lang="en-US" sz="1100" dirty="0">
                <a:solidFill>
                  <a:srgbClr val="EAF0FA"/>
                </a:solidFill>
                <a:latin typeface="Calibri" pitchFamily="34" charset="0"/>
                <a:ea typeface="Calibri" pitchFamily="34" charset="-122"/>
                <a:cs typeface="Calibri" pitchFamily="34" charset="-120"/>
              </a:rPr>
              <a:t>Modes: Manual, Accept edits, Plan, Auto (classifier reviews each action; default on Pro/Max/Team), Bypass (hidden until enabled).</a:t>
            </a:r>
            <a:endParaRPr lang="en-US" sz="1100" dirty="0"/>
          </a:p>
          <a:p>
            <a:pPr marL="152400" indent="-152400">
              <a:spcAft>
                <a:spcPts val="500"/>
              </a:spcAft>
              <a:buSzPct val="100000"/>
              <a:buChar char="•"/>
            </a:pPr>
            <a:r>
              <a:rPr lang="en-US" sz="1100" dirty="0">
                <a:solidFill>
                  <a:srgbClr val="EAF0FA"/>
                </a:solidFill>
                <a:latin typeface="Calibri" pitchFamily="34" charset="0"/>
                <a:ea typeface="Calibri" pitchFamily="34" charset="-122"/>
                <a:cs typeface="Calibri" pitchFamily="34" charset="-120"/>
              </a:rPr>
              <a:t>Hard stops in every mode: rm on root, home, C:\ or the parent of the project always prompts; .git, .claude and shell rc files are protected.</a:t>
            </a:r>
            <a:endParaRPr lang="en-US" sz="1100" dirty="0"/>
          </a:p>
        </p:txBody>
      </p:sp>
      <p:sp>
        <p:nvSpPr>
          <p:cNvPr id="7" name="Text 5"/>
          <p:cNvSpPr txBox="1"/>
          <p:nvPr/>
        </p:nvSpPr>
        <p:spPr>
          <a:xfrm>
            <a:off x="5760720" y="1371600"/>
            <a:ext cx="301752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Getting real enforcement</a:t>
            </a:r>
            <a:endParaRPr lang="en-US" sz="1400" dirty="0"/>
          </a:p>
        </p:txBody>
      </p:sp>
      <p:sp>
        <p:nvSpPr>
          <p:cNvPr id="8" name="Shape 6"/>
          <p:cNvSpPr/>
          <p:nvPr/>
        </p:nvSpPr>
        <p:spPr>
          <a:xfrm>
            <a:off x="5760720" y="1801368"/>
            <a:ext cx="384048" cy="384048"/>
          </a:xfrm>
          <a:prstGeom prst="ellipse">
            <a:avLst/>
          </a:prstGeom>
          <a:solidFill>
            <a:srgbClr val="3DD68C"/>
          </a:solidFill>
          <a:ln w="12700">
            <a:solidFill>
              <a:srgbClr val="3DD68C"/>
            </a:solidFill>
            <a:prstDash val="solid"/>
          </a:ln>
        </p:spPr>
      </p:sp>
      <p:pic>
        <p:nvPicPr>
          <p:cNvPr id="9" name="Image 0" descr="preencoded.png">    </p:cNvPr>
          <p:cNvPicPr>
            <a:picLocks noChangeAspect="1"/>
          </p:cNvPicPr>
          <p:nvPr/>
        </p:nvPicPr>
        <p:blipFill>
          <a:blip r:embed="rId1"/>
          <a:stretch>
            <a:fillRect/>
          </a:stretch>
        </p:blipFill>
        <p:spPr>
          <a:xfrm>
            <a:off x="5856732" y="1897380"/>
            <a:ext cx="192024" cy="192024"/>
          </a:xfrm>
          <a:prstGeom prst="rect">
            <a:avLst/>
          </a:prstGeom>
        </p:spPr>
      </p:pic>
      <p:sp>
        <p:nvSpPr>
          <p:cNvPr id="10" name="Text 7"/>
          <p:cNvSpPr txBox="1"/>
          <p:nvPr/>
        </p:nvSpPr>
        <p:spPr>
          <a:xfrm>
            <a:off x="6263640" y="1764792"/>
            <a:ext cx="2560320" cy="256032"/>
          </a:xfrm>
          <a:prstGeom prst="rect">
            <a:avLst/>
          </a:prstGeom>
          <a:noFill/>
          <a:ln/>
        </p:spPr>
        <p:txBody>
          <a:bodyPr wrap="square" lIns="0" tIns="0" rIns="0" bIns="0" rtlCol="0" anchor="ctr"/>
          <a:lstStyle/>
          <a:p>
            <a:pPr indent="0" marL="0">
              <a:buNone/>
            </a:pPr>
            <a:r>
              <a:rPr lang="en-US" sz="1200" b="1" dirty="0">
                <a:solidFill>
                  <a:srgbClr val="EAF0FA"/>
                </a:solidFill>
                <a:latin typeface="Calibri" pitchFamily="34" charset="0"/>
                <a:ea typeface="Calibri" pitchFamily="34" charset="-122"/>
                <a:cs typeface="Calibri" pitchFamily="34" charset="-120"/>
              </a:rPr>
              <a:t>WSL session + /sandbox</a:t>
            </a:r>
            <a:endParaRPr lang="en-US" sz="1200" dirty="0"/>
          </a:p>
        </p:txBody>
      </p:sp>
      <p:sp>
        <p:nvSpPr>
          <p:cNvPr id="11" name="Text 8"/>
          <p:cNvSpPr txBox="1"/>
          <p:nvPr/>
        </p:nvSpPr>
        <p:spPr>
          <a:xfrm>
            <a:off x="6263640" y="2020824"/>
            <a:ext cx="2560320" cy="640080"/>
          </a:xfrm>
          <a:prstGeom prst="rect">
            <a:avLst/>
          </a:prstGeom>
          <a:noFill/>
          <a:ln/>
        </p:spPr>
        <p:txBody>
          <a:bodyPr wrap="square" lIns="0" tIns="0" rIns="0" bIns="0" rtlCol="0" anchor="ctr"/>
          <a:lstStyle/>
          <a:p>
            <a:pPr indent="0" marL="0">
              <a:buNone/>
            </a:pPr>
            <a:r>
              <a:rPr lang="en-US" sz="1000" dirty="0">
                <a:solidFill>
                  <a:srgbClr val="9FB0C8"/>
                </a:solidFill>
                <a:latin typeface="Calibri" pitchFamily="34" charset="0"/>
                <a:ea typeface="Calibri" pitchFamily="34" charset="-122"/>
                <a:cs typeface="Calibri" pitchFamily="34" charset="-120"/>
              </a:rPr>
              <a:t>Desktop runs the whole session inside a WSL 2 distro; with bubblewrap and socat installed, /sandbox limits writes to cwd and network to an allowlist.</a:t>
            </a:r>
            <a:endParaRPr lang="en-US" sz="1000" dirty="0"/>
          </a:p>
        </p:txBody>
      </p:sp>
      <p:sp>
        <p:nvSpPr>
          <p:cNvPr id="12" name="Shape 9"/>
          <p:cNvSpPr/>
          <p:nvPr/>
        </p:nvSpPr>
        <p:spPr>
          <a:xfrm>
            <a:off x="5760720" y="2761488"/>
            <a:ext cx="384048" cy="384048"/>
          </a:xfrm>
          <a:prstGeom prst="ellipse">
            <a:avLst/>
          </a:prstGeom>
          <a:solidFill>
            <a:srgbClr val="5BA8FF"/>
          </a:solidFill>
          <a:ln w="12700">
            <a:solidFill>
              <a:srgbClr val="5BA8FF"/>
            </a:solidFill>
            <a:prstDash val="solid"/>
          </a:ln>
        </p:spPr>
      </p:sp>
      <p:pic>
        <p:nvPicPr>
          <p:cNvPr id="13" name="Image 1" descr="preencoded.png">    </p:cNvPr>
          <p:cNvPicPr>
            <a:picLocks noChangeAspect="1"/>
          </p:cNvPicPr>
          <p:nvPr/>
        </p:nvPicPr>
        <p:blipFill>
          <a:blip r:embed="rId2"/>
          <a:stretch>
            <a:fillRect/>
          </a:stretch>
        </p:blipFill>
        <p:spPr>
          <a:xfrm>
            <a:off x="5856732" y="2857500"/>
            <a:ext cx="192024" cy="192024"/>
          </a:xfrm>
          <a:prstGeom prst="rect">
            <a:avLst/>
          </a:prstGeom>
        </p:spPr>
      </p:pic>
      <p:sp>
        <p:nvSpPr>
          <p:cNvPr id="14" name="Text 10"/>
          <p:cNvSpPr txBox="1"/>
          <p:nvPr/>
        </p:nvSpPr>
        <p:spPr>
          <a:xfrm>
            <a:off x="6263640" y="2724912"/>
            <a:ext cx="2560320" cy="256032"/>
          </a:xfrm>
          <a:prstGeom prst="rect">
            <a:avLst/>
          </a:prstGeom>
          <a:noFill/>
          <a:ln/>
        </p:spPr>
        <p:txBody>
          <a:bodyPr wrap="square" lIns="0" tIns="0" rIns="0" bIns="0" rtlCol="0" anchor="ctr"/>
          <a:lstStyle/>
          <a:p>
            <a:pPr indent="0" marL="0">
              <a:buNone/>
            </a:pPr>
            <a:r>
              <a:rPr lang="en-US" sz="1200" b="1" dirty="0">
                <a:solidFill>
                  <a:srgbClr val="EAF0FA"/>
                </a:solidFill>
                <a:latin typeface="Calibri" pitchFamily="34" charset="0"/>
                <a:ea typeface="Calibri" pitchFamily="34" charset="-122"/>
                <a:cs typeface="Calibri" pitchFamily="34" charset="-120"/>
              </a:rPr>
              <a:t>Cloud session</a:t>
            </a:r>
            <a:endParaRPr lang="en-US" sz="1200" dirty="0"/>
          </a:p>
        </p:txBody>
      </p:sp>
      <p:sp>
        <p:nvSpPr>
          <p:cNvPr id="15" name="Text 11"/>
          <p:cNvSpPr txBox="1"/>
          <p:nvPr/>
        </p:nvSpPr>
        <p:spPr>
          <a:xfrm>
            <a:off x="6263640" y="2980944"/>
            <a:ext cx="2560320" cy="640080"/>
          </a:xfrm>
          <a:prstGeom prst="rect">
            <a:avLst/>
          </a:prstGeom>
          <a:noFill/>
          <a:ln/>
        </p:spPr>
        <p:txBody>
          <a:bodyPr wrap="square" lIns="0" tIns="0" rIns="0" bIns="0" rtlCol="0" anchor="ctr"/>
          <a:lstStyle/>
          <a:p>
            <a:pPr indent="0" marL="0">
              <a:buNone/>
            </a:pPr>
            <a:r>
              <a:rPr lang="en-US" sz="1000" dirty="0">
                <a:solidFill>
                  <a:srgbClr val="9FB0C8"/>
                </a:solidFill>
                <a:latin typeface="Calibri" pitchFamily="34" charset="0"/>
                <a:ea typeface="Calibri" pitchFamily="34" charset="-122"/>
                <a:cs typeface="Calibri" pitchFamily="34" charset="-120"/>
              </a:rPr>
              <a:t>Isolated Anthropic-managed VM, limited egress, scoped Git credentials, push restricted to the branch. No Bypass mode.</a:t>
            </a:r>
            <a:endParaRPr lang="en-US" sz="1000" dirty="0"/>
          </a:p>
        </p:txBody>
      </p:sp>
      <p:sp>
        <p:nvSpPr>
          <p:cNvPr id="16" name="Shape 12"/>
          <p:cNvSpPr/>
          <p:nvPr/>
        </p:nvSpPr>
        <p:spPr>
          <a:xfrm>
            <a:off x="5760720" y="3721608"/>
            <a:ext cx="384048" cy="384048"/>
          </a:xfrm>
          <a:prstGeom prst="ellipse">
            <a:avLst/>
          </a:prstGeom>
          <a:solidFill>
            <a:srgbClr val="F5B341"/>
          </a:solidFill>
          <a:ln w="12700">
            <a:solidFill>
              <a:srgbClr val="F5B341"/>
            </a:solidFill>
            <a:prstDash val="solid"/>
          </a:ln>
        </p:spPr>
      </p:sp>
      <p:pic>
        <p:nvPicPr>
          <p:cNvPr id="17" name="Image 2" descr="preencoded.png">    </p:cNvPr>
          <p:cNvPicPr>
            <a:picLocks noChangeAspect="1"/>
          </p:cNvPicPr>
          <p:nvPr/>
        </p:nvPicPr>
        <p:blipFill>
          <a:blip r:embed="rId3"/>
          <a:stretch>
            <a:fillRect/>
          </a:stretch>
        </p:blipFill>
        <p:spPr>
          <a:xfrm>
            <a:off x="5856732" y="3817620"/>
            <a:ext cx="192024" cy="192024"/>
          </a:xfrm>
          <a:prstGeom prst="rect">
            <a:avLst/>
          </a:prstGeom>
        </p:spPr>
      </p:pic>
      <p:sp>
        <p:nvSpPr>
          <p:cNvPr id="18" name="Text 13"/>
          <p:cNvSpPr txBox="1"/>
          <p:nvPr/>
        </p:nvSpPr>
        <p:spPr>
          <a:xfrm>
            <a:off x="6263640" y="3685032"/>
            <a:ext cx="2560320" cy="256032"/>
          </a:xfrm>
          <a:prstGeom prst="rect">
            <a:avLst/>
          </a:prstGeom>
          <a:noFill/>
          <a:ln/>
        </p:spPr>
        <p:txBody>
          <a:bodyPr wrap="square" lIns="0" tIns="0" rIns="0" bIns="0" rtlCol="0" anchor="ctr"/>
          <a:lstStyle/>
          <a:p>
            <a:pPr indent="0" marL="0">
              <a:buNone/>
            </a:pPr>
            <a:r>
              <a:rPr lang="en-US" sz="1200" b="1" dirty="0">
                <a:solidFill>
                  <a:srgbClr val="EAF0FA"/>
                </a:solidFill>
                <a:latin typeface="Calibri" pitchFamily="34" charset="0"/>
                <a:ea typeface="Calibri" pitchFamily="34" charset="-122"/>
                <a:cs typeface="Calibri" pitchFamily="34" charset="-120"/>
              </a:rPr>
              <a:t>Cowork, VM, dev container</a:t>
            </a:r>
            <a:endParaRPr lang="en-US" sz="1200" dirty="0"/>
          </a:p>
        </p:txBody>
      </p:sp>
      <p:sp>
        <p:nvSpPr>
          <p:cNvPr id="19" name="Text 14"/>
          <p:cNvSpPr txBox="1"/>
          <p:nvPr/>
        </p:nvSpPr>
        <p:spPr>
          <a:xfrm>
            <a:off x="6263640" y="3941064"/>
            <a:ext cx="2560320" cy="640080"/>
          </a:xfrm>
          <a:prstGeom prst="rect">
            <a:avLst/>
          </a:prstGeom>
          <a:noFill/>
          <a:ln/>
        </p:spPr>
        <p:txBody>
          <a:bodyPr wrap="square" lIns="0" tIns="0" rIns="0" bIns="0" rtlCol="0" anchor="ctr"/>
          <a:lstStyle/>
          <a:p>
            <a:pPr indent="0" marL="0">
              <a:buNone/>
            </a:pPr>
            <a:r>
              <a:rPr lang="en-US" sz="1000" dirty="0">
                <a:solidFill>
                  <a:srgbClr val="9FB0C8"/>
                </a:solidFill>
                <a:latin typeface="Calibri" pitchFamily="34" charset="0"/>
                <a:ea typeface="Calibri" pitchFamily="34" charset="-122"/>
                <a:cs typeface="Calibri" pitchFamily="34" charset="-120"/>
              </a:rPr>
              <a:t>Cowork runs in a sandboxed VM. Anthropic's own advice for native Windows: a container, a VM, or the sandbox inside WSL 2.</a:t>
            </a:r>
            <a:endParaRPr lang="en-US" sz="1000" dirty="0"/>
          </a:p>
        </p:txBody>
      </p:sp>
      <p:sp>
        <p:nvSpPr>
          <p:cNvPr id="20" name="Text 15"/>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9FB0C8"/>
                </a:solidFill>
                <a:latin typeface="Calibri" pitchFamily="34" charset="0"/>
                <a:ea typeface="Calibri" pitchFamily="34" charset="-122"/>
                <a:cs typeface="Calibri" pitchFamily="34" charset="-120"/>
              </a:rPr>
              <a:t>Sources: code.claude.com/docs (desktop, setup, sandboxing, permission-modes, security), Sept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ChatGPT Desktop (Codex mode)</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Kernel-level sandbox on every platform, including a native Windows sandbox</a:t>
            </a:r>
            <a:endParaRPr lang="en-US" sz="1300" dirty="0"/>
          </a:p>
        </p:txBody>
      </p:sp>
      <p:sp>
        <p:nvSpPr>
          <p:cNvPr id="4" name="Shape 2"/>
          <p:cNvSpPr/>
          <p:nvPr/>
        </p:nvSpPr>
        <p:spPr>
          <a:xfrm>
            <a:off x="457200" y="1325880"/>
            <a:ext cx="2697480" cy="1783080"/>
          </a:xfrm>
          <a:prstGeom prst="roundRect">
            <a:avLst>
              <a:gd name="adj" fmla="val 6154"/>
            </a:avLst>
          </a:prstGeom>
          <a:solidFill>
            <a:srgbClr val="141E33"/>
          </a:solidFill>
          <a:ln w="12700">
            <a:solidFill>
              <a:srgbClr val="2B3A57"/>
            </a:solidFill>
            <a:prstDash val="solid"/>
          </a:ln>
        </p:spPr>
      </p:sp>
      <p:pic>
        <p:nvPicPr>
          <p:cNvPr id="5" name="Image 0" descr="preencoded.png">    </p:cNvPr>
          <p:cNvPicPr>
            <a:picLocks noChangeAspect="1"/>
          </p:cNvPicPr>
          <p:nvPr/>
        </p:nvPicPr>
        <p:blipFill>
          <a:blip r:embed="rId1"/>
          <a:stretch>
            <a:fillRect/>
          </a:stretch>
        </p:blipFill>
        <p:spPr>
          <a:xfrm>
            <a:off x="640080" y="1463040"/>
            <a:ext cx="365760" cy="365760"/>
          </a:xfrm>
          <a:prstGeom prst="rect">
            <a:avLst/>
          </a:prstGeom>
        </p:spPr>
      </p:pic>
      <p:sp>
        <p:nvSpPr>
          <p:cNvPr id="6" name="Text 3"/>
          <p:cNvSpPr txBox="1"/>
          <p:nvPr/>
        </p:nvSpPr>
        <p:spPr>
          <a:xfrm>
            <a:off x="1097280" y="1481328"/>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macOS</a:t>
            </a:r>
            <a:endParaRPr lang="en-US" sz="1400" dirty="0"/>
          </a:p>
        </p:txBody>
      </p:sp>
      <p:sp>
        <p:nvSpPr>
          <p:cNvPr id="7" name="Text 4"/>
          <p:cNvSpPr txBox="1"/>
          <p:nvPr/>
        </p:nvSpPr>
        <p:spPr>
          <a:xfrm>
            <a:off x="640080" y="1920240"/>
            <a:ext cx="2377440" cy="1143000"/>
          </a:xfrm>
          <a:prstGeom prst="rect">
            <a:avLst/>
          </a:prstGeom>
          <a:noFill/>
          <a:ln/>
        </p:spPr>
        <p:txBody>
          <a:bodyPr wrap="square" lIns="0" tIns="0" rIns="0" bIns="0" rtlCol="0" anchor="t"/>
          <a:lstStyle/>
          <a:p>
            <a:pPr indent="0" marL="0">
              <a:buNone/>
            </a:pPr>
            <a:r>
              <a:rPr lang="en-US" sz="1050" dirty="0">
                <a:solidFill>
                  <a:srgbClr val="9FB0C8"/>
                </a:solidFill>
                <a:latin typeface="Calibri" pitchFamily="34" charset="0"/>
                <a:ea typeface="Calibri" pitchFamily="34" charset="-122"/>
                <a:cs typeface="Calibri" pitchFamily="34" charset="-120"/>
              </a:rPr>
              <a:t>Seatbelt (sandbox-exec) with a deny-by-default profile. Writes only to the workspace and temp dirs; .git and .codex stay read-only.</a:t>
            </a:r>
            <a:endParaRPr lang="en-US" sz="1050" dirty="0"/>
          </a:p>
        </p:txBody>
      </p:sp>
      <p:sp>
        <p:nvSpPr>
          <p:cNvPr id="8" name="Shape 5"/>
          <p:cNvSpPr/>
          <p:nvPr/>
        </p:nvSpPr>
        <p:spPr>
          <a:xfrm>
            <a:off x="3268980" y="1325880"/>
            <a:ext cx="2697480" cy="1783080"/>
          </a:xfrm>
          <a:prstGeom prst="roundRect">
            <a:avLst>
              <a:gd name="adj" fmla="val 6154"/>
            </a:avLst>
          </a:prstGeom>
          <a:solidFill>
            <a:srgbClr val="141E33"/>
          </a:solidFill>
          <a:ln w="12700">
            <a:solidFill>
              <a:srgbClr val="2B3A57"/>
            </a:solidFill>
            <a:prstDash val="solid"/>
          </a:ln>
        </p:spPr>
      </p:sp>
      <p:pic>
        <p:nvPicPr>
          <p:cNvPr id="9" name="Image 1" descr="preencoded.png">    </p:cNvPr>
          <p:cNvPicPr>
            <a:picLocks noChangeAspect="1"/>
          </p:cNvPicPr>
          <p:nvPr/>
        </p:nvPicPr>
        <p:blipFill>
          <a:blip r:embed="rId2"/>
          <a:stretch>
            <a:fillRect/>
          </a:stretch>
        </p:blipFill>
        <p:spPr>
          <a:xfrm>
            <a:off x="3451860" y="1463040"/>
            <a:ext cx="365760" cy="365760"/>
          </a:xfrm>
          <a:prstGeom prst="rect">
            <a:avLst/>
          </a:prstGeom>
        </p:spPr>
      </p:pic>
      <p:sp>
        <p:nvSpPr>
          <p:cNvPr id="10" name="Text 6"/>
          <p:cNvSpPr txBox="1"/>
          <p:nvPr/>
        </p:nvSpPr>
        <p:spPr>
          <a:xfrm>
            <a:off x="3909060" y="1481328"/>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Linux / WSL 2</a:t>
            </a:r>
            <a:endParaRPr lang="en-US" sz="1400" dirty="0"/>
          </a:p>
        </p:txBody>
      </p:sp>
      <p:sp>
        <p:nvSpPr>
          <p:cNvPr id="11" name="Text 7"/>
          <p:cNvSpPr txBox="1"/>
          <p:nvPr/>
        </p:nvSpPr>
        <p:spPr>
          <a:xfrm>
            <a:off x="3451860" y="1920240"/>
            <a:ext cx="2377440" cy="1143000"/>
          </a:xfrm>
          <a:prstGeom prst="rect">
            <a:avLst/>
          </a:prstGeom>
          <a:noFill/>
          <a:ln/>
        </p:spPr>
        <p:txBody>
          <a:bodyPr wrap="square" lIns="0" tIns="0" rIns="0" bIns="0" rtlCol="0" anchor="t"/>
          <a:lstStyle/>
          <a:p>
            <a:pPr indent="0" marL="0">
              <a:buNone/>
            </a:pPr>
            <a:r>
              <a:rPr lang="en-US" sz="1050" dirty="0">
                <a:solidFill>
                  <a:srgbClr val="9FB0C8"/>
                </a:solidFill>
                <a:latin typeface="Calibri" pitchFamily="34" charset="0"/>
                <a:ea typeface="Calibri" pitchFamily="34" charset="-122"/>
                <a:cs typeface="Calibri" pitchFamily="34" charset="-120"/>
              </a:rPr>
              <a:t>bubblewrap plus seccomp (Landlock is the legacy fallback). Network namespace unshared: no sockets unless allowed.</a:t>
            </a:r>
            <a:endParaRPr lang="en-US" sz="1050" dirty="0"/>
          </a:p>
        </p:txBody>
      </p:sp>
      <p:sp>
        <p:nvSpPr>
          <p:cNvPr id="12" name="Shape 8"/>
          <p:cNvSpPr/>
          <p:nvPr/>
        </p:nvSpPr>
        <p:spPr>
          <a:xfrm>
            <a:off x="6080760" y="1325880"/>
            <a:ext cx="2697480" cy="1783080"/>
          </a:xfrm>
          <a:prstGeom prst="roundRect">
            <a:avLst>
              <a:gd name="adj" fmla="val 6154"/>
            </a:avLst>
          </a:prstGeom>
          <a:solidFill>
            <a:srgbClr val="141E33"/>
          </a:solidFill>
          <a:ln w="12700">
            <a:solidFill>
              <a:srgbClr val="2B3A57"/>
            </a:solidFill>
            <a:prstDash val="solid"/>
          </a:ln>
        </p:spPr>
      </p:sp>
      <p:pic>
        <p:nvPicPr>
          <p:cNvPr id="13" name="Image 2" descr="preencoded.png">    </p:cNvPr>
          <p:cNvPicPr>
            <a:picLocks noChangeAspect="1"/>
          </p:cNvPicPr>
          <p:nvPr/>
        </p:nvPicPr>
        <p:blipFill>
          <a:blip r:embed="rId3"/>
          <a:stretch>
            <a:fillRect/>
          </a:stretch>
        </p:blipFill>
        <p:spPr>
          <a:xfrm>
            <a:off x="6263640" y="1463040"/>
            <a:ext cx="365760" cy="365760"/>
          </a:xfrm>
          <a:prstGeom prst="rect">
            <a:avLst/>
          </a:prstGeom>
        </p:spPr>
      </p:pic>
      <p:sp>
        <p:nvSpPr>
          <p:cNvPr id="14" name="Text 9"/>
          <p:cNvSpPr txBox="1"/>
          <p:nvPr/>
        </p:nvSpPr>
        <p:spPr>
          <a:xfrm>
            <a:off x="6720840" y="1481328"/>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Windows (alpha)</a:t>
            </a:r>
            <a:endParaRPr lang="en-US" sz="1400" dirty="0"/>
          </a:p>
        </p:txBody>
      </p:sp>
      <p:sp>
        <p:nvSpPr>
          <p:cNvPr id="15" name="Text 10"/>
          <p:cNvSpPr txBox="1"/>
          <p:nvPr/>
        </p:nvSpPr>
        <p:spPr>
          <a:xfrm>
            <a:off x="6263640" y="1920240"/>
            <a:ext cx="2377440" cy="1143000"/>
          </a:xfrm>
          <a:prstGeom prst="rect">
            <a:avLst/>
          </a:prstGeom>
          <a:noFill/>
          <a:ln/>
        </p:spPr>
        <p:txBody>
          <a:bodyPr wrap="square" lIns="0" tIns="0" rIns="0" bIns="0" rtlCol="0" anchor="t"/>
          <a:lstStyle/>
          <a:p>
            <a:pPr indent="0" marL="0">
              <a:buNone/>
            </a:pPr>
            <a:r>
              <a:rPr lang="en-US" sz="1050" dirty="0">
                <a:solidFill>
                  <a:srgbClr val="9FB0C8"/>
                </a:solidFill>
                <a:latin typeface="Calibri" pitchFamily="34" charset="0"/>
                <a:ea typeface="Calibri" pitchFamily="34" charset="-122"/>
                <a:cs typeface="Calibri" pitchFamily="34" charset="-120"/>
              </a:rPr>
              <a:t>Native restricted-token sandbox. Elevated mode: dedicated low-privilege users, ACLs, firewall rules. Unelevated mode: only deny-write carve-outs.</a:t>
            </a:r>
            <a:endParaRPr lang="en-US" sz="1050" dirty="0"/>
          </a:p>
        </p:txBody>
      </p:sp>
      <p:sp>
        <p:nvSpPr>
          <p:cNvPr id="16" name="Shape 11"/>
          <p:cNvSpPr/>
          <p:nvPr/>
        </p:nvSpPr>
        <p:spPr>
          <a:xfrm>
            <a:off x="457200" y="3291840"/>
            <a:ext cx="5120640" cy="1371600"/>
          </a:xfrm>
          <a:prstGeom prst="roundRect">
            <a:avLst>
              <a:gd name="adj" fmla="val 8000"/>
            </a:avLst>
          </a:prstGeom>
          <a:solidFill>
            <a:srgbClr val="1B2740"/>
          </a:solidFill>
          <a:ln w="12700">
            <a:solidFill>
              <a:srgbClr val="2B3A57"/>
            </a:solidFill>
            <a:prstDash val="solid"/>
          </a:ln>
        </p:spPr>
      </p:sp>
      <p:sp>
        <p:nvSpPr>
          <p:cNvPr id="17" name="Text 12"/>
          <p:cNvSpPr txBox="1"/>
          <p:nvPr/>
        </p:nvSpPr>
        <p:spPr>
          <a:xfrm>
            <a:off x="640080" y="3364992"/>
            <a:ext cx="4572000" cy="274320"/>
          </a:xfrm>
          <a:prstGeom prst="rect">
            <a:avLst/>
          </a:prstGeom>
          <a:noFill/>
          <a:ln/>
        </p:spPr>
        <p:txBody>
          <a:bodyPr wrap="square" lIns="0" tIns="0" rIns="0" bIns="0" rtlCol="0" anchor="ctr"/>
          <a:lstStyle/>
          <a:p>
            <a:pPr indent="0" marL="0">
              <a:buNone/>
            </a:pPr>
            <a:r>
              <a:rPr lang="en-US" sz="1300" b="1" dirty="0">
                <a:solidFill>
                  <a:srgbClr val="F5B341"/>
                </a:solidFill>
                <a:latin typeface="Calibri" pitchFamily="34" charset="0"/>
                <a:ea typeface="Calibri" pitchFamily="34" charset="-122"/>
                <a:cs typeface="Calibri" pitchFamily="34" charset="-120"/>
              </a:rPr>
              <a:t>Modes in the app</a:t>
            </a:r>
            <a:endParaRPr lang="en-US" sz="1300" dirty="0"/>
          </a:p>
        </p:txBody>
      </p:sp>
      <p:sp>
        <p:nvSpPr>
          <p:cNvPr id="18" name="Text 13"/>
          <p:cNvSpPr txBox="1"/>
          <p:nvPr/>
        </p:nvSpPr>
        <p:spPr>
          <a:xfrm>
            <a:off x="640080" y="3657600"/>
            <a:ext cx="4846320" cy="9601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Read only: reads any file, no writes, no network.</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Auto (default for trusted folders): workspace-write, network off, asks before running a blocked command outside the sandbox.</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Full access: no sandbox, no approvals. Documented incidents live here.</a:t>
            </a:r>
            <a:endParaRPr lang="en-US" sz="1050" dirty="0"/>
          </a:p>
        </p:txBody>
      </p:sp>
      <p:sp>
        <p:nvSpPr>
          <p:cNvPr id="19" name="Shape 14"/>
          <p:cNvSpPr/>
          <p:nvPr/>
        </p:nvSpPr>
        <p:spPr>
          <a:xfrm>
            <a:off x="5806440" y="3337560"/>
            <a:ext cx="384048" cy="384048"/>
          </a:xfrm>
          <a:prstGeom prst="ellipse">
            <a:avLst/>
          </a:prstGeom>
          <a:solidFill>
            <a:srgbClr val="F5B341"/>
          </a:solidFill>
          <a:ln w="12700">
            <a:solidFill>
              <a:srgbClr val="F5B341"/>
            </a:solidFill>
            <a:prstDash val="solid"/>
          </a:ln>
        </p:spPr>
      </p:sp>
      <p:pic>
        <p:nvPicPr>
          <p:cNvPr id="20" name="Image 3" descr="preencoded.png">    </p:cNvPr>
          <p:cNvPicPr>
            <a:picLocks noChangeAspect="1"/>
          </p:cNvPicPr>
          <p:nvPr/>
        </p:nvPicPr>
        <p:blipFill>
          <a:blip r:embed="rId4"/>
          <a:stretch>
            <a:fillRect/>
          </a:stretch>
        </p:blipFill>
        <p:spPr>
          <a:xfrm>
            <a:off x="5902452" y="3433572"/>
            <a:ext cx="192024" cy="192024"/>
          </a:xfrm>
          <a:prstGeom prst="rect">
            <a:avLst/>
          </a:prstGeom>
        </p:spPr>
      </p:pic>
      <p:sp>
        <p:nvSpPr>
          <p:cNvPr id="21" name="Text 15"/>
          <p:cNvSpPr txBox="1"/>
          <p:nvPr/>
        </p:nvSpPr>
        <p:spPr>
          <a:xfrm>
            <a:off x="6309360" y="3364992"/>
            <a:ext cx="2468880" cy="274320"/>
          </a:xfrm>
          <a:prstGeom prst="rect">
            <a:avLst/>
          </a:prstGeom>
          <a:noFill/>
          <a:ln/>
        </p:spPr>
        <p:txBody>
          <a:bodyPr wrap="square" lIns="0" tIns="0" rIns="0" bIns="0" rtlCol="0" anchor="ctr"/>
          <a:lstStyle/>
          <a:p>
            <a:pPr indent="0" marL="0">
              <a:buNone/>
            </a:pPr>
            <a:r>
              <a:rPr lang="en-US" sz="1300" b="1" dirty="0">
                <a:solidFill>
                  <a:srgbClr val="EAF0FA"/>
                </a:solidFill>
                <a:latin typeface="Calibri" pitchFamily="34" charset="0"/>
                <a:ea typeface="Calibri" pitchFamily="34" charset="-122"/>
                <a:cs typeface="Calibri" pitchFamily="34" charset="-120"/>
              </a:rPr>
              <a:t>Caveats</a:t>
            </a:r>
            <a:endParaRPr lang="en-US" sz="1300" dirty="0"/>
          </a:p>
        </p:txBody>
      </p:sp>
      <p:sp>
        <p:nvSpPr>
          <p:cNvPr id="22" name="Text 16"/>
          <p:cNvSpPr txBox="1"/>
          <p:nvPr/>
        </p:nvSpPr>
        <p:spPr>
          <a:xfrm>
            <a:off x="5806440" y="3703320"/>
            <a:ext cx="3017520" cy="9601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9FB0C8"/>
                </a:solidFill>
                <a:latin typeface="Calibri" pitchFamily="34" charset="0"/>
                <a:ea typeface="Calibri" pitchFamily="34" charset="-122"/>
                <a:cs typeface="Calibri" pitchFamily="34" charset="-120"/>
              </a:rPr>
              <a:t>Windows sandbox is alpha; folders writable by Everyone are not protected.</a:t>
            </a:r>
            <a:endParaRPr lang="en-US" sz="1050" dirty="0"/>
          </a:p>
          <a:p>
            <a:pPr marL="152400" indent="-152400">
              <a:spcAft>
                <a:spcPts val="500"/>
              </a:spcAft>
              <a:buSzPct val="100000"/>
              <a:buChar char="•"/>
            </a:pPr>
            <a:r>
              <a:rPr lang="en-US" sz="1050" dirty="0">
                <a:solidFill>
                  <a:srgbClr val="9FB0C8"/>
                </a:solidFill>
                <a:latin typeface="Calibri" pitchFamily="34" charset="0"/>
                <a:ea typeface="Calibri" pitchFamily="34" charset="-122"/>
                <a:cs typeface="Calibri" pitchFamily="34" charset="-120"/>
              </a:rPr>
              <a:t>Approving "run outside sandbox" removes the wall for that command.</a:t>
            </a:r>
            <a:endParaRPr lang="en-US" sz="1050" dirty="0"/>
          </a:p>
          <a:p>
            <a:pPr marL="152400" indent="-152400">
              <a:spcAft>
                <a:spcPts val="500"/>
              </a:spcAft>
              <a:buSzPct val="100000"/>
              <a:buChar char="•"/>
            </a:pPr>
            <a:r>
              <a:rPr lang="en-US" sz="1050" dirty="0">
                <a:solidFill>
                  <a:srgbClr val="9FB0C8"/>
                </a:solidFill>
                <a:latin typeface="Calibri" pitchFamily="34" charset="0"/>
                <a:ea typeface="Calibri" pitchFamily="34" charset="-122"/>
                <a:cs typeface="Calibri" pitchFamily="34" charset="-120"/>
              </a:rPr>
              <a:t>Docker and WSL calls fail inside the sandbox.</a:t>
            </a:r>
            <a:endParaRPr lang="en-US" sz="1050" dirty="0"/>
          </a:p>
        </p:txBody>
      </p:sp>
      <p:sp>
        <p:nvSpPr>
          <p:cNvPr id="23" name="Text 17"/>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9FB0C8"/>
                </a:solidFill>
                <a:latin typeface="Calibri" pitchFamily="34" charset="0"/>
                <a:ea typeface="Calibri" pitchFamily="34" charset="-122"/>
                <a:cs typeface="Calibri" pitchFamily="34" charset="-120"/>
              </a:rPr>
              <a:t>Sources: openai/codex source (sandboxing, linux-sandbox, windows-sandbox-rs crates), learn.chatgpt.com docs, OpenAI blog, Sept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OpenCode Desktop</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Electron UI over the same runtime as the TUI: policy only, no kernel sandbox</a:t>
            </a:r>
            <a:endParaRPr lang="en-US" sz="1300" dirty="0"/>
          </a:p>
        </p:txBody>
      </p:sp>
      <p:sp>
        <p:nvSpPr>
          <p:cNvPr id="4" name="Shape 2"/>
          <p:cNvSpPr/>
          <p:nvPr/>
        </p:nvSpPr>
        <p:spPr>
          <a:xfrm>
            <a:off x="457200" y="1325880"/>
            <a:ext cx="3931920" cy="3291840"/>
          </a:xfrm>
          <a:prstGeom prst="roundRect">
            <a:avLst>
              <a:gd name="adj" fmla="val 3333"/>
            </a:avLst>
          </a:prstGeom>
          <a:solidFill>
            <a:srgbClr val="141E33"/>
          </a:solidFill>
          <a:ln w="12700">
            <a:solidFill>
              <a:srgbClr val="2B3A57"/>
            </a:solidFill>
            <a:prstDash val="solid"/>
          </a:ln>
        </p:spPr>
      </p:sp>
      <p:sp>
        <p:nvSpPr>
          <p:cNvPr id="5" name="Shape 3"/>
          <p:cNvSpPr/>
          <p:nvPr/>
        </p:nvSpPr>
        <p:spPr>
          <a:xfrm>
            <a:off x="685800" y="1508760"/>
            <a:ext cx="457200" cy="457200"/>
          </a:xfrm>
          <a:prstGeom prst="ellipse">
            <a:avLst/>
          </a:prstGeom>
          <a:solidFill>
            <a:srgbClr val="FF6B6B"/>
          </a:solidFill>
          <a:ln w="12700">
            <a:solidFill>
              <a:srgbClr val="FF6B6B"/>
            </a:solidFill>
            <a:prstDash val="solid"/>
          </a:ln>
        </p:spPr>
      </p:sp>
      <p:pic>
        <p:nvPicPr>
          <p:cNvPr id="6" name="Image 0" descr="preencoded.png">    </p:cNvPr>
          <p:cNvPicPr>
            <a:picLocks noChangeAspect="1"/>
          </p:cNvPicPr>
          <p:nvPr/>
        </p:nvPicPr>
        <p:blipFill>
          <a:blip r:embed="rId1"/>
          <a:stretch>
            <a:fillRect/>
          </a:stretch>
        </p:blipFill>
        <p:spPr>
          <a:xfrm>
            <a:off x="800100" y="1623060"/>
            <a:ext cx="228600" cy="228600"/>
          </a:xfrm>
          <a:prstGeom prst="rect">
            <a:avLst/>
          </a:prstGeom>
        </p:spPr>
      </p:pic>
      <p:sp>
        <p:nvSpPr>
          <p:cNvPr id="7" name="Text 4"/>
          <p:cNvSpPr txBox="1"/>
          <p:nvPr/>
        </p:nvSpPr>
        <p:spPr>
          <a:xfrm>
            <a:off x="1280160" y="1554480"/>
            <a:ext cx="3017520" cy="36576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Commands run unsandboxed</a:t>
            </a:r>
            <a:endParaRPr lang="en-US" sz="1400" dirty="0"/>
          </a:p>
        </p:txBody>
      </p:sp>
      <p:sp>
        <p:nvSpPr>
          <p:cNvPr id="8" name="Text 5"/>
          <p:cNvSpPr txBox="1"/>
          <p:nvPr/>
        </p:nvSpPr>
        <p:spPr>
          <a:xfrm>
            <a:off x="685800" y="2057400"/>
            <a:ext cx="3520440" cy="25146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The shell tool calls spawn() with your environment. No Seatbelt, bubblewrap, Landlock or Windows token wrapper exists in the code base.</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Windows shell order: pwsh, then powershell, then Git Bash, then cmd.exe (configurable).</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Defaults are "allow": bash, edit, read and webfetch run without prompts. Only external_directory and doom_loop default to "ask".</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Plan agent sets edit and bash to "ask". Per-pattern rules are possible, e.g. rm * deny, git push ask.</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A Settings toggle "Auto-approve permissions" removes the remaining prompts.</a:t>
            </a:r>
            <a:endParaRPr lang="en-US" sz="1050" dirty="0"/>
          </a:p>
        </p:txBody>
      </p:sp>
      <p:sp>
        <p:nvSpPr>
          <p:cNvPr id="9" name="Shape 6"/>
          <p:cNvSpPr/>
          <p:nvPr/>
        </p:nvSpPr>
        <p:spPr>
          <a:xfrm>
            <a:off x="4663440" y="1325880"/>
            <a:ext cx="4023360" cy="1554480"/>
          </a:xfrm>
          <a:prstGeom prst="roundRect">
            <a:avLst>
              <a:gd name="adj" fmla="val 7059"/>
            </a:avLst>
          </a:prstGeom>
          <a:solidFill>
            <a:srgbClr val="1B2740"/>
          </a:solidFill>
          <a:ln w="12700">
            <a:solidFill>
              <a:srgbClr val="2B3A57"/>
            </a:solidFill>
            <a:prstDash val="solid"/>
          </a:ln>
        </p:spPr>
      </p:sp>
      <p:sp>
        <p:nvSpPr>
          <p:cNvPr id="10" name="Shape 7"/>
          <p:cNvSpPr/>
          <p:nvPr/>
        </p:nvSpPr>
        <p:spPr>
          <a:xfrm>
            <a:off x="4846320" y="1463040"/>
            <a:ext cx="384048" cy="384048"/>
          </a:xfrm>
          <a:prstGeom prst="ellipse">
            <a:avLst/>
          </a:prstGeom>
          <a:solidFill>
            <a:srgbClr val="F5B341"/>
          </a:solidFill>
          <a:ln w="12700">
            <a:solidFill>
              <a:srgbClr val="F5B341"/>
            </a:solidFill>
            <a:prstDash val="solid"/>
          </a:ln>
        </p:spPr>
      </p:sp>
      <p:pic>
        <p:nvPicPr>
          <p:cNvPr id="11" name="Image 1" descr="preencoded.png">    </p:cNvPr>
          <p:cNvPicPr>
            <a:picLocks noChangeAspect="1"/>
          </p:cNvPicPr>
          <p:nvPr/>
        </p:nvPicPr>
        <p:blipFill>
          <a:blip r:embed="rId2"/>
          <a:stretch>
            <a:fillRect/>
          </a:stretch>
        </p:blipFill>
        <p:spPr>
          <a:xfrm>
            <a:off x="4942332" y="1559052"/>
            <a:ext cx="192024" cy="192024"/>
          </a:xfrm>
          <a:prstGeom prst="rect">
            <a:avLst/>
          </a:prstGeom>
        </p:spPr>
      </p:pic>
      <p:sp>
        <p:nvSpPr>
          <p:cNvPr id="12" name="Text 8"/>
          <p:cNvSpPr txBox="1"/>
          <p:nvPr/>
        </p:nvSpPr>
        <p:spPr>
          <a:xfrm>
            <a:off x="5349240" y="1490472"/>
            <a:ext cx="3200400" cy="274320"/>
          </a:xfrm>
          <a:prstGeom prst="rect">
            <a:avLst/>
          </a:prstGeom>
          <a:noFill/>
          <a:ln/>
        </p:spPr>
        <p:txBody>
          <a:bodyPr wrap="square" lIns="0" tIns="0" rIns="0" bIns="0" rtlCol="0" anchor="ctr"/>
          <a:lstStyle/>
          <a:p>
            <a:pPr indent="0" marL="0">
              <a:buNone/>
            </a:pPr>
            <a:r>
              <a:rPr lang="en-US" sz="1300" b="1" dirty="0">
                <a:solidFill>
                  <a:srgbClr val="EAF0FA"/>
                </a:solidFill>
                <a:latin typeface="Calibri" pitchFamily="34" charset="0"/>
                <a:ea typeface="Calibri" pitchFamily="34" charset="-122"/>
                <a:cs typeface="Calibri" pitchFamily="34" charset="-120"/>
              </a:rPr>
              <a:t>Outside-the-project guard</a:t>
            </a:r>
            <a:endParaRPr lang="en-US" sz="1300" dirty="0"/>
          </a:p>
        </p:txBody>
      </p:sp>
      <p:sp>
        <p:nvSpPr>
          <p:cNvPr id="13" name="Text 9"/>
          <p:cNvSpPr txBox="1"/>
          <p:nvPr/>
        </p:nvSpPr>
        <p:spPr>
          <a:xfrm>
            <a:off x="4846320" y="1874520"/>
            <a:ext cx="3657600" cy="960120"/>
          </a:xfrm>
          <a:prstGeom prst="rect">
            <a:avLst/>
          </a:prstGeom>
          <a:noFill/>
          <a:ln/>
        </p:spPr>
        <p:txBody>
          <a:bodyPr wrap="square" lIns="0" tIns="0" rIns="0" bIns="0" rtlCol="0" anchor="t"/>
          <a:lstStyle/>
          <a:p>
            <a:pPr indent="0" marL="0">
              <a:buNone/>
            </a:pPr>
            <a:r>
              <a:rPr lang="en-US" sz="1050" dirty="0">
                <a:solidFill>
                  <a:srgbClr val="9FB0C8"/>
                </a:solidFill>
                <a:latin typeface="Calibri" pitchFamily="34" charset="0"/>
                <a:ea typeface="Calibri" pitchFamily="34" charset="-122"/>
                <a:cs typeface="Calibri" pitchFamily="34" charset="-120"/>
              </a:rPr>
              <a:t>File tools and path arguments of rm, cp, mv and similar are checked against the project root and raise an "external directory" prompt. Approval grants the whole parent folder. cd is not checked. Symlink handling has had reported bypasses.</a:t>
            </a:r>
            <a:endParaRPr lang="en-US" sz="1050" dirty="0"/>
          </a:p>
        </p:txBody>
      </p:sp>
      <p:sp>
        <p:nvSpPr>
          <p:cNvPr id="14" name="Shape 10"/>
          <p:cNvSpPr/>
          <p:nvPr/>
        </p:nvSpPr>
        <p:spPr>
          <a:xfrm>
            <a:off x="4663440" y="3063240"/>
            <a:ext cx="4023360" cy="1554480"/>
          </a:xfrm>
          <a:prstGeom prst="roundRect">
            <a:avLst>
              <a:gd name="adj" fmla="val 7059"/>
            </a:avLst>
          </a:prstGeom>
          <a:solidFill>
            <a:srgbClr val="1B2740"/>
          </a:solidFill>
          <a:ln w="12700">
            <a:solidFill>
              <a:srgbClr val="2B3A57"/>
            </a:solidFill>
            <a:prstDash val="solid"/>
          </a:ln>
        </p:spPr>
      </p:sp>
      <p:sp>
        <p:nvSpPr>
          <p:cNvPr id="15" name="Shape 11"/>
          <p:cNvSpPr/>
          <p:nvPr/>
        </p:nvSpPr>
        <p:spPr>
          <a:xfrm>
            <a:off x="4846320" y="3200400"/>
            <a:ext cx="384048" cy="384048"/>
          </a:xfrm>
          <a:prstGeom prst="ellipse">
            <a:avLst/>
          </a:prstGeom>
          <a:solidFill>
            <a:srgbClr val="3DD68C"/>
          </a:solidFill>
          <a:ln w="12700">
            <a:solidFill>
              <a:srgbClr val="3DD68C"/>
            </a:solidFill>
            <a:prstDash val="solid"/>
          </a:ln>
        </p:spPr>
      </p:sp>
      <p:pic>
        <p:nvPicPr>
          <p:cNvPr id="16" name="Image 2" descr="preencoded.png">    </p:cNvPr>
          <p:cNvPicPr>
            <a:picLocks noChangeAspect="1"/>
          </p:cNvPicPr>
          <p:nvPr/>
        </p:nvPicPr>
        <p:blipFill>
          <a:blip r:embed="rId3"/>
          <a:stretch>
            <a:fillRect/>
          </a:stretch>
        </p:blipFill>
        <p:spPr>
          <a:xfrm>
            <a:off x="4942332" y="3296412"/>
            <a:ext cx="192024" cy="192024"/>
          </a:xfrm>
          <a:prstGeom prst="rect">
            <a:avLst/>
          </a:prstGeom>
        </p:spPr>
      </p:pic>
      <p:sp>
        <p:nvSpPr>
          <p:cNvPr id="17" name="Text 12"/>
          <p:cNvSpPr txBox="1"/>
          <p:nvPr/>
        </p:nvSpPr>
        <p:spPr>
          <a:xfrm>
            <a:off x="5349240" y="3227832"/>
            <a:ext cx="3200400" cy="274320"/>
          </a:xfrm>
          <a:prstGeom prst="rect">
            <a:avLst/>
          </a:prstGeom>
          <a:noFill/>
          <a:ln/>
        </p:spPr>
        <p:txBody>
          <a:bodyPr wrap="square" lIns="0" tIns="0" rIns="0" bIns="0" rtlCol="0" anchor="ctr"/>
          <a:lstStyle/>
          <a:p>
            <a:pPr indent="0" marL="0">
              <a:buNone/>
            </a:pPr>
            <a:r>
              <a:rPr lang="en-US" sz="1300" b="1" dirty="0">
                <a:solidFill>
                  <a:srgbClr val="EAF0FA"/>
                </a:solidFill>
                <a:latin typeface="Calibri" pitchFamily="34" charset="0"/>
                <a:ea typeface="Calibri" pitchFamily="34" charset="-122"/>
                <a:cs typeface="Calibri" pitchFamily="34" charset="-120"/>
              </a:rPr>
              <a:t>The upside, and the way out</a:t>
            </a:r>
            <a:endParaRPr lang="en-US" sz="1300" dirty="0"/>
          </a:p>
        </p:txBody>
      </p:sp>
      <p:sp>
        <p:nvSpPr>
          <p:cNvPr id="18" name="Text 13"/>
          <p:cNvSpPr txBox="1"/>
          <p:nvPr/>
        </p:nvSpPr>
        <p:spPr>
          <a:xfrm>
            <a:off x="4846320" y="3611880"/>
            <a:ext cx="3657600" cy="960120"/>
          </a:xfrm>
          <a:prstGeom prst="rect">
            <a:avLst/>
          </a:prstGeom>
          <a:noFill/>
          <a:ln/>
        </p:spPr>
        <p:txBody>
          <a:bodyPr wrap="square" lIns="0" tIns="0" rIns="0" bIns="0" rtlCol="0" anchor="t"/>
          <a:lstStyle/>
          <a:p>
            <a:pPr indent="0" marL="0">
              <a:buNone/>
            </a:pPr>
            <a:r>
              <a:rPr lang="en-US" sz="1050" dirty="0">
                <a:solidFill>
                  <a:srgbClr val="9FB0C8"/>
                </a:solidFill>
                <a:latin typeface="Calibri" pitchFamily="34" charset="0"/>
                <a:ea typeface="Calibri" pitchFamily="34" charset="-122"/>
                <a:cs typeface="Calibri" pitchFamily="34" charset="-120"/>
              </a:rPr>
              <a:t>MIT-licensed, auditable, works with local models. The desktop can run its server inside WSL 2 or attach to any opencode serve over HTTP, so the runtime can live in a container. Docker Sandboxes has an official OpenCode profile.</a:t>
            </a:r>
            <a:endParaRPr lang="en-US" sz="1050" dirty="0"/>
          </a:p>
        </p:txBody>
      </p:sp>
      <p:sp>
        <p:nvSpPr>
          <p:cNvPr id="19" name="Text 14"/>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9FB0C8"/>
                </a:solidFill>
                <a:latin typeface="Calibri" pitchFamily="34" charset="0"/>
                <a:ea typeface="Calibri" pitchFamily="34" charset="-122"/>
                <a:cs typeface="Calibri" pitchFamily="34" charset="-120"/>
              </a:rPr>
              <a:t>Sources: anomalyco/opencode source (tool/shell.ts, tool/external-directory.ts, core/shell.ts), docs permissions.mdx and agents.mdx, Sept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Running the agent inside WSL 2</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Both desktop apps can move the runtime into an Ubuntu distro; only one gets a sandbox there</a:t>
            </a:r>
            <a:endParaRPr lang="en-US" sz="1300" dirty="0"/>
          </a:p>
        </p:txBody>
      </p:sp>
      <p:sp>
        <p:nvSpPr>
          <p:cNvPr id="4" name="Shape 2"/>
          <p:cNvSpPr/>
          <p:nvPr/>
        </p:nvSpPr>
        <p:spPr>
          <a:xfrm>
            <a:off x="457200" y="1325880"/>
            <a:ext cx="4023360" cy="3246120"/>
          </a:xfrm>
          <a:prstGeom prst="roundRect">
            <a:avLst>
              <a:gd name="adj" fmla="val 3380"/>
            </a:avLst>
          </a:prstGeom>
          <a:solidFill>
            <a:srgbClr val="141E33"/>
          </a:solidFill>
          <a:ln w="12700">
            <a:solidFill>
              <a:srgbClr val="2B3A57"/>
            </a:solidFill>
            <a:prstDash val="solid"/>
          </a:ln>
        </p:spPr>
      </p:sp>
      <p:sp>
        <p:nvSpPr>
          <p:cNvPr id="5" name="Shape 3"/>
          <p:cNvSpPr/>
          <p:nvPr/>
        </p:nvSpPr>
        <p:spPr>
          <a:xfrm>
            <a:off x="640080" y="1463040"/>
            <a:ext cx="411480" cy="411480"/>
          </a:xfrm>
          <a:prstGeom prst="ellipse">
            <a:avLst/>
          </a:prstGeom>
          <a:solidFill>
            <a:srgbClr val="F5B341"/>
          </a:solidFill>
          <a:ln w="12700">
            <a:solidFill>
              <a:srgbClr val="F5B341"/>
            </a:solidFill>
            <a:prstDash val="solid"/>
          </a:ln>
        </p:spPr>
      </p:sp>
      <p:pic>
        <p:nvPicPr>
          <p:cNvPr id="6" name="Image 0" descr="preencoded.png">    </p:cNvPr>
          <p:cNvPicPr>
            <a:picLocks noChangeAspect="1"/>
          </p:cNvPicPr>
          <p:nvPr/>
        </p:nvPicPr>
        <p:blipFill>
          <a:blip r:embed="rId1"/>
          <a:stretch>
            <a:fillRect/>
          </a:stretch>
        </p:blipFill>
        <p:spPr>
          <a:xfrm>
            <a:off x="742950" y="1565910"/>
            <a:ext cx="205740" cy="205740"/>
          </a:xfrm>
          <a:prstGeom prst="rect">
            <a:avLst/>
          </a:prstGeom>
        </p:spPr>
      </p:pic>
      <p:sp>
        <p:nvSpPr>
          <p:cNvPr id="7" name="Text 4"/>
          <p:cNvSpPr txBox="1"/>
          <p:nvPr/>
        </p:nvSpPr>
        <p:spPr>
          <a:xfrm>
            <a:off x="1143000" y="1508760"/>
            <a:ext cx="3108960" cy="320040"/>
          </a:xfrm>
          <a:prstGeom prst="rect">
            <a:avLst/>
          </a:prstGeom>
          <a:noFill/>
          <a:ln/>
        </p:spPr>
        <p:txBody>
          <a:bodyPr wrap="square" lIns="0" tIns="0" rIns="0" bIns="0" rtlCol="0" anchor="ctr"/>
          <a:lstStyle/>
          <a:p>
            <a:pPr indent="0" marL="0">
              <a:buNone/>
            </a:pPr>
            <a:r>
              <a:rPr lang="en-US" sz="1500" b="1" dirty="0">
                <a:solidFill>
                  <a:srgbClr val="EAF0FA"/>
                </a:solidFill>
                <a:latin typeface="Calibri" pitchFamily="34" charset="0"/>
                <a:ea typeface="Calibri" pitchFamily="34" charset="-122"/>
                <a:cs typeface="Calibri" pitchFamily="34" charset="-120"/>
              </a:rPr>
              <a:t>Claude Desktop</a:t>
            </a:r>
            <a:endParaRPr lang="en-US" sz="1500" dirty="0"/>
          </a:p>
        </p:txBody>
      </p:sp>
      <p:sp>
        <p:nvSpPr>
          <p:cNvPr id="8" name="Text 5"/>
          <p:cNvSpPr txBox="1"/>
          <p:nvPr/>
        </p:nvSpPr>
        <p:spPr>
          <a:xfrm>
            <a:off x="640080" y="1965960"/>
            <a:ext cx="3657600" cy="25146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Pick a WSL 2 distro in the session picker; the whole session, tools and git run inside it with Linux paths.</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Claude Code is installed in the distro on first use.</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apt install bubblewrap socat, then /sandbox: writes limited to cwd and temp, network via allowlist proxy.</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Optional seccomp filter blocks the Unix socket that lets WSL launch Windows binaries.</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Native SSH sessions to a Linux or macOS host are also built in.</a:t>
            </a:r>
            <a:endParaRPr lang="en-US" sz="1050" dirty="0"/>
          </a:p>
        </p:txBody>
      </p:sp>
      <p:sp>
        <p:nvSpPr>
          <p:cNvPr id="9" name="Shape 6"/>
          <p:cNvSpPr/>
          <p:nvPr/>
        </p:nvSpPr>
        <p:spPr>
          <a:xfrm>
            <a:off x="4663440" y="1325880"/>
            <a:ext cx="4023360" cy="3246120"/>
          </a:xfrm>
          <a:prstGeom prst="roundRect">
            <a:avLst>
              <a:gd name="adj" fmla="val 3380"/>
            </a:avLst>
          </a:prstGeom>
          <a:solidFill>
            <a:srgbClr val="141E33"/>
          </a:solidFill>
          <a:ln w="12700">
            <a:solidFill>
              <a:srgbClr val="2B3A57"/>
            </a:solidFill>
            <a:prstDash val="solid"/>
          </a:ln>
        </p:spPr>
      </p:sp>
      <p:sp>
        <p:nvSpPr>
          <p:cNvPr id="10" name="Shape 7"/>
          <p:cNvSpPr/>
          <p:nvPr/>
        </p:nvSpPr>
        <p:spPr>
          <a:xfrm>
            <a:off x="4846320" y="1463040"/>
            <a:ext cx="411480" cy="411480"/>
          </a:xfrm>
          <a:prstGeom prst="ellipse">
            <a:avLst/>
          </a:prstGeom>
          <a:solidFill>
            <a:srgbClr val="FF6B6B"/>
          </a:solidFill>
          <a:ln w="12700">
            <a:solidFill>
              <a:srgbClr val="FF6B6B"/>
            </a:solidFill>
            <a:prstDash val="solid"/>
          </a:ln>
        </p:spPr>
      </p:sp>
      <p:pic>
        <p:nvPicPr>
          <p:cNvPr id="11" name="Image 1" descr="preencoded.png">    </p:cNvPr>
          <p:cNvPicPr>
            <a:picLocks noChangeAspect="1"/>
          </p:cNvPicPr>
          <p:nvPr/>
        </p:nvPicPr>
        <p:blipFill>
          <a:blip r:embed="rId2"/>
          <a:stretch>
            <a:fillRect/>
          </a:stretch>
        </p:blipFill>
        <p:spPr>
          <a:xfrm>
            <a:off x="4949190" y="1565910"/>
            <a:ext cx="205740" cy="205740"/>
          </a:xfrm>
          <a:prstGeom prst="rect">
            <a:avLst/>
          </a:prstGeom>
        </p:spPr>
      </p:pic>
      <p:sp>
        <p:nvSpPr>
          <p:cNvPr id="12" name="Text 8"/>
          <p:cNvSpPr txBox="1"/>
          <p:nvPr/>
        </p:nvSpPr>
        <p:spPr>
          <a:xfrm>
            <a:off x="5349240" y="1508760"/>
            <a:ext cx="3108960" cy="320040"/>
          </a:xfrm>
          <a:prstGeom prst="rect">
            <a:avLst/>
          </a:prstGeom>
          <a:noFill/>
          <a:ln/>
        </p:spPr>
        <p:txBody>
          <a:bodyPr wrap="square" lIns="0" tIns="0" rIns="0" bIns="0" rtlCol="0" anchor="ctr"/>
          <a:lstStyle/>
          <a:p>
            <a:pPr indent="0" marL="0">
              <a:buNone/>
            </a:pPr>
            <a:r>
              <a:rPr lang="en-US" sz="1500" b="1" dirty="0">
                <a:solidFill>
                  <a:srgbClr val="EAF0FA"/>
                </a:solidFill>
                <a:latin typeface="Calibri" pitchFamily="34" charset="0"/>
                <a:ea typeface="Calibri" pitchFamily="34" charset="-122"/>
                <a:cs typeface="Calibri" pitchFamily="34" charset="-120"/>
              </a:rPr>
              <a:t>OpenCode Desktop</a:t>
            </a:r>
            <a:endParaRPr lang="en-US" sz="1500" dirty="0"/>
          </a:p>
        </p:txBody>
      </p:sp>
      <p:sp>
        <p:nvSpPr>
          <p:cNvPr id="13" name="Text 9"/>
          <p:cNvSpPr txBox="1"/>
          <p:nvPr/>
        </p:nvSpPr>
        <p:spPr>
          <a:xfrm>
            <a:off x="4846320" y="1965960"/>
            <a:ext cx="3657600" cy="25146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Settings: WSL integration, Add WSL server; the app runs opencode serve inside the distro and talks to it over HTTP with basic auth.</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The CLI is installed in the distro at the matching version. Shipped in v1.17.0 (June 2026).</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Nothing sandboxes commands inside the distro: no bubblewrap or Landlock support exists in the code base.</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Any opencode serve is reachable via Add server: a Docker Sandboxes microVM, a container, or an SSH port forward.</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No native SSH sessions; remote workspaces are experimental.</a:t>
            </a:r>
            <a:endParaRPr lang="en-US" sz="1050" dirty="0"/>
          </a:p>
        </p:txBody>
      </p:sp>
      <p:sp>
        <p:nvSpPr>
          <p:cNvPr id="14" name="Text 10"/>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9FB0C8"/>
                </a:solidFill>
                <a:latin typeface="Calibri" pitchFamily="34" charset="0"/>
                <a:ea typeface="Calibri" pitchFamily="34" charset="-122"/>
                <a:cs typeface="Calibri" pitchFamily="34" charset="-120"/>
              </a:rPr>
              <a:t>Sources: code.claude.com/docs (desktop-wsl, sandboxing); anomalyco/opencode packages/desktop/src/main/wsl, docs windows-wsl.mdx and server.mdx, PR #23407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Sandboxing side by side</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What is enforced by the operating system when the agent works on a local repo</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463040"/>
                <a:gridCol w="2377440"/>
                <a:gridCol w="2194560"/>
                <a:gridCol w="2194560"/>
              </a:tblGrid>
              <a:tr h="365760">
                <a:tc>
                  <a:txBody>
                    <a:bodyPr/>
                    <a:lstStyle/>
                    <a:p>
                      <a:pPr algn="ctr" indent="0" marL="0">
                        <a:buNone/>
                      </a:pP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c>
                  <a:txBody>
                    <a:bodyPr/>
                    <a:lstStyle/>
                    <a:p>
                      <a:pPr algn="ctr" indent="0" marL="0">
                        <a:buNone/>
                      </a:pPr>
                      <a:r>
                        <a:rPr lang="en-US" sz="1100" b="1" dirty="0">
                          <a:solidFill>
                            <a:srgbClr val="EAF0FA"/>
                          </a:solidFill>
                          <a:latin typeface="Calibri" pitchFamily="34" charset="0"/>
                          <a:ea typeface="Calibri" pitchFamily="34" charset="-122"/>
                          <a:cs typeface="Calibri" pitchFamily="34" charset="-120"/>
                        </a:rPr>
                        <a:t>Claude Desktop (Claude Code)</a:t>
                      </a: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c>
                  <a:txBody>
                    <a:bodyPr/>
                    <a:lstStyle/>
                    <a:p>
                      <a:pPr algn="ctr" indent="0" marL="0">
                        <a:buNone/>
                      </a:pPr>
                      <a:r>
                        <a:rPr lang="en-US" sz="1100" b="1" dirty="0">
                          <a:solidFill>
                            <a:srgbClr val="EAF0FA"/>
                          </a:solidFill>
                          <a:latin typeface="Calibri" pitchFamily="34" charset="0"/>
                          <a:ea typeface="Calibri" pitchFamily="34" charset="-122"/>
                          <a:cs typeface="Calibri" pitchFamily="34" charset="-120"/>
                        </a:rPr>
                        <a:t>ChatGPT Desktop (Codex)</a:t>
                      </a: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c>
                  <a:txBody>
                    <a:bodyPr/>
                    <a:lstStyle/>
                    <a:p>
                      <a:pPr algn="ctr" indent="0" marL="0">
                        <a:buNone/>
                      </a:pPr>
                      <a:r>
                        <a:rPr lang="en-US" sz="1100" b="1" dirty="0">
                          <a:solidFill>
                            <a:srgbClr val="EAF0FA"/>
                          </a:solidFill>
                          <a:latin typeface="Calibri" pitchFamily="34" charset="0"/>
                          <a:ea typeface="Calibri" pitchFamily="34" charset="-122"/>
                          <a:cs typeface="Calibri" pitchFamily="34" charset="-120"/>
                        </a:rPr>
                        <a:t>OpenCode Desktop</a:t>
                      </a: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r>
              <a:tr h="365760">
                <a:tc>
                  <a:txBody>
                    <a:bodyPr/>
                    <a:lstStyle/>
                    <a:p>
                      <a:pPr indent="0" marL="0">
                        <a:buNone/>
                      </a:pPr>
                      <a:r>
                        <a:rPr lang="en-US" sz="1050" b="1" dirty="0">
                          <a:solidFill>
                            <a:srgbClr val="F5B341"/>
                          </a:solidFill>
                          <a:latin typeface="Calibri" pitchFamily="34" charset="0"/>
                          <a:ea typeface="Calibri" pitchFamily="34" charset="-122"/>
                          <a:cs typeface="Calibri" pitchFamily="34" charset="-120"/>
                        </a:rPr>
                        <a:t>Kernel sandbox on macOS</a:t>
                      </a:r>
                      <a:endParaRPr lang="en-US" sz="105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Yes: Seatbelt, via /sandbox (opt-in)</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Yes: Seatbelt, on by default</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F6B6B"/>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50" b="1" dirty="0">
                          <a:solidFill>
                            <a:srgbClr val="F5B341"/>
                          </a:solidFill>
                          <a:latin typeface="Calibri" pitchFamily="34" charset="0"/>
                          <a:ea typeface="Calibri" pitchFamily="34" charset="-122"/>
                          <a:cs typeface="Calibri" pitchFamily="34" charset="-120"/>
                        </a:rPr>
                        <a:t>Kernel sandbox on Linux / WSL 2</a:t>
                      </a:r>
                      <a:endParaRPr lang="en-US" sz="105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Yes: bubblewrap + socat proxy (opt-in)</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Yes: bubblewrap + seccomp, on by default</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F6B6B"/>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50" b="1" dirty="0">
                          <a:solidFill>
                            <a:srgbClr val="F5B341"/>
                          </a:solidFill>
                          <a:latin typeface="Calibri" pitchFamily="34" charset="0"/>
                          <a:ea typeface="Calibri" pitchFamily="34" charset="-122"/>
                          <a:cs typeface="Calibri" pitchFamily="34" charset="-120"/>
                        </a:rPr>
                        <a:t>Kernel sandbox on native Windows</a:t>
                      </a:r>
                      <a:endParaRPr lang="en-US" sz="105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1000" dirty="0">
                          <a:solidFill>
                            <a:srgbClr val="FF6B6B"/>
                          </a:solidFill>
                          <a:latin typeface="Calibri" pitchFamily="34" charset="0"/>
                          <a:ea typeface="Calibri" pitchFamily="34" charset="-122"/>
                          <a:cs typeface="Calibri" pitchFamily="34" charset="-120"/>
                        </a:rPr>
                        <a:t>No. Git Bash runs with full user rights. Use WSL session or Cloud.</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5B341"/>
                          </a:solidFill>
                          <a:latin typeface="Calibri" pitchFamily="34" charset="0"/>
                          <a:ea typeface="Calibri" pitchFamily="34" charset="-122"/>
                          <a:cs typeface="Calibri" pitchFamily="34" charset="-120"/>
                        </a:rPr>
                        <a:t>Yes, alpha: restricted-token sandbox (elevated / unelevated)</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F6B6B"/>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50" b="1" dirty="0">
                          <a:solidFill>
                            <a:srgbClr val="F5B341"/>
                          </a:solidFill>
                          <a:latin typeface="Calibri" pitchFamily="34" charset="0"/>
                          <a:ea typeface="Calibri" pitchFamily="34" charset="-122"/>
                          <a:cs typeface="Calibri" pitchFamily="34" charset="-120"/>
                        </a:rPr>
                        <a:t>Default write scope</a:t>
                      </a:r>
                      <a:endParaRPr lang="en-US" sz="105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1000" dirty="0">
                          <a:solidFill>
                            <a:srgbClr val="F5B341"/>
                          </a:solidFill>
                          <a:latin typeface="Calibri" pitchFamily="34" charset="0"/>
                          <a:ea typeface="Calibri" pitchFamily="34" charset="-122"/>
                          <a:cs typeface="Calibri" pitchFamily="34" charset="-120"/>
                        </a:rPr>
                        <a:t>Policy: project folder; Bash writes elsewhere prompt or go to classifier</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Enforced: workspace + temp; .git read-only</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5B341"/>
                          </a:solidFill>
                          <a:latin typeface="Calibri" pitchFamily="34" charset="0"/>
                          <a:ea typeface="Calibri" pitchFamily="34" charset="-122"/>
                          <a:cs typeface="Calibri" pitchFamily="34" charset="-120"/>
                        </a:rPr>
                        <a:t>Policy: project folder; external paths prompt</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50" b="1" dirty="0">
                          <a:solidFill>
                            <a:srgbClr val="F5B341"/>
                          </a:solidFill>
                          <a:latin typeface="Calibri" pitchFamily="34" charset="0"/>
                          <a:ea typeface="Calibri" pitchFamily="34" charset="-122"/>
                          <a:cs typeface="Calibri" pitchFamily="34" charset="-120"/>
                        </a:rPr>
                        <a:t>Network from shell</a:t>
                      </a:r>
                      <a:endParaRPr lang="en-US" sz="105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1000" dirty="0">
                          <a:solidFill>
                            <a:srgbClr val="F5B341"/>
                          </a:solidFill>
                          <a:latin typeface="Calibri" pitchFamily="34" charset="0"/>
                          <a:ea typeface="Calibri" pitchFamily="34" charset="-122"/>
                          <a:cs typeface="Calibri" pitchFamily="34" charset="-120"/>
                        </a:rPr>
                        <a:t>Sandbox: allowlist proxy, no domains pre-allowed; unsandboxed: curl/wget prompt</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Off inside sandbox; enable per config or approval</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F6B6B"/>
                          </a:solidFill>
                          <a:latin typeface="Calibri" pitchFamily="34" charset="0"/>
                          <a:ea typeface="Calibri" pitchFamily="34" charset="-122"/>
                          <a:cs typeface="Calibri" pitchFamily="34" charset="-120"/>
                        </a:rPr>
                        <a:t>Unrestricted; webfetch tool allowed by default</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50" b="1" dirty="0">
                          <a:solidFill>
                            <a:srgbClr val="F5B341"/>
                          </a:solidFill>
                          <a:latin typeface="Calibri" pitchFamily="34" charset="0"/>
                          <a:ea typeface="Calibri" pitchFamily="34" charset="-122"/>
                          <a:cs typeface="Calibri" pitchFamily="34" charset="-120"/>
                        </a:rPr>
                        <a:t>Escape hatch</a:t>
                      </a:r>
                      <a:endParaRPr lang="en-US" sz="105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1000" dirty="0">
                          <a:solidFill>
                            <a:srgbClr val="F5B341"/>
                          </a:solidFill>
                          <a:latin typeface="Calibri" pitchFamily="34" charset="0"/>
                          <a:ea typeface="Calibri" pitchFamily="34" charset="-122"/>
                          <a:cs typeface="Calibri" pitchFamily="34" charset="-120"/>
                        </a:rPr>
                        <a:t>Bypass mode; unsandboxed retry (policy can disable)</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5B341"/>
                          </a:solidFill>
                          <a:latin typeface="Calibri" pitchFamily="34" charset="0"/>
                          <a:ea typeface="Calibri" pitchFamily="34" charset="-122"/>
                          <a:cs typeface="Calibri" pitchFamily="34" charset="-120"/>
                        </a:rPr>
                        <a:t>"Run outside sandbox" approval; Full access mode</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F6B6B"/>
                          </a:solidFill>
                          <a:latin typeface="Calibri" pitchFamily="34" charset="0"/>
                          <a:ea typeface="Calibri" pitchFamily="34" charset="-122"/>
                          <a:cs typeface="Calibri" pitchFamily="34" charset="-120"/>
                        </a:rPr>
                        <a:t>Auto-approve toggle; everything already unsandboxed</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50" b="1" dirty="0">
                          <a:solidFill>
                            <a:srgbClr val="F5B341"/>
                          </a:solidFill>
                          <a:latin typeface="Calibri" pitchFamily="34" charset="0"/>
                          <a:ea typeface="Calibri" pitchFamily="34" charset="-122"/>
                          <a:cs typeface="Calibri" pitchFamily="34" charset="-120"/>
                        </a:rPr>
                        <a:t>Built-in isolated environment</a:t>
                      </a:r>
                      <a:endParaRPr lang="en-US" sz="105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Cloud session VM, WSL session, Cowork VM</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3DD68C"/>
                          </a:solidFill>
                          <a:latin typeface="Calibri" pitchFamily="34" charset="0"/>
                          <a:ea typeface="Calibri" pitchFamily="34" charset="-122"/>
                          <a:cs typeface="Calibri" pitchFamily="34" charset="-120"/>
                        </a:rPr>
                        <a:t>Codex cloud containers, git worktrees per task</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1000" dirty="0">
                          <a:solidFill>
                            <a:srgbClr val="F5B341"/>
                          </a:solidFill>
                          <a:latin typeface="Calibri" pitchFamily="34" charset="0"/>
                          <a:ea typeface="Calibri" pitchFamily="34" charset="-122"/>
                          <a:cs typeface="Calibri" pitchFamily="34" charset="-120"/>
                        </a:rPr>
                        <a:t>WSL 2 server mode, no sandbox inside; GUI can attach to a server in Docker Sandboxes</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Beyond sandboxing</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Other security-relevant differences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71600"/>
                <a:gridCol w="2468880"/>
                <a:gridCol w="2194560"/>
                <a:gridCol w="2194560"/>
              </a:tblGrid>
              <a:tr h="365760">
                <a:tc>
                  <a:txBody>
                    <a:bodyPr/>
                    <a:lstStyle/>
                    <a:p>
                      <a:pPr algn="ctr" indent="0" marL="0">
                        <a:buNone/>
                      </a:pP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c>
                  <a:txBody>
                    <a:bodyPr/>
                    <a:lstStyle/>
                    <a:p>
                      <a:pPr algn="ctr" indent="0" marL="0">
                        <a:buNone/>
                      </a:pPr>
                      <a:r>
                        <a:rPr lang="en-US" sz="1100" b="1" dirty="0">
                          <a:solidFill>
                            <a:srgbClr val="EAF0FA"/>
                          </a:solidFill>
                          <a:latin typeface="Calibri" pitchFamily="34" charset="0"/>
                          <a:ea typeface="Calibri" pitchFamily="34" charset="-122"/>
                          <a:cs typeface="Calibri" pitchFamily="34" charset="-120"/>
                        </a:rPr>
                        <a:t>Claude Desktop (Claude Code)</a:t>
                      </a: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c>
                  <a:txBody>
                    <a:bodyPr/>
                    <a:lstStyle/>
                    <a:p>
                      <a:pPr algn="ctr" indent="0" marL="0">
                        <a:buNone/>
                      </a:pPr>
                      <a:r>
                        <a:rPr lang="en-US" sz="1100" b="1" dirty="0">
                          <a:solidFill>
                            <a:srgbClr val="EAF0FA"/>
                          </a:solidFill>
                          <a:latin typeface="Calibri" pitchFamily="34" charset="0"/>
                          <a:ea typeface="Calibri" pitchFamily="34" charset="-122"/>
                          <a:cs typeface="Calibri" pitchFamily="34" charset="-120"/>
                        </a:rPr>
                        <a:t>ChatGPT Desktop (Codex)</a:t>
                      </a: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c>
                  <a:txBody>
                    <a:bodyPr/>
                    <a:lstStyle/>
                    <a:p>
                      <a:pPr algn="ctr" indent="0" marL="0">
                        <a:buNone/>
                      </a:pPr>
                      <a:r>
                        <a:rPr lang="en-US" sz="1100" b="1" dirty="0">
                          <a:solidFill>
                            <a:srgbClr val="EAF0FA"/>
                          </a:solidFill>
                          <a:latin typeface="Calibri" pitchFamily="34" charset="0"/>
                          <a:ea typeface="Calibri" pitchFamily="34" charset="-122"/>
                          <a:cs typeface="Calibri" pitchFamily="34" charset="-120"/>
                        </a:rPr>
                        <a:t>OpenCode Desktop</a:t>
                      </a:r>
                      <a:endParaRPr lang="en-US" sz="11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B2740"/>
                    </a:solidFill>
                  </a:tcPr>
                </a:tc>
              </a:tr>
              <a:tr h="365760">
                <a:tc>
                  <a:txBody>
                    <a:bodyPr/>
                    <a:lstStyle/>
                    <a:p>
                      <a:pPr indent="0" marL="0">
                        <a:buNone/>
                      </a:pPr>
                      <a:r>
                        <a:rPr lang="en-US" sz="1000" b="1" dirty="0">
                          <a:solidFill>
                            <a:srgbClr val="F5B341"/>
                          </a:solidFill>
                          <a:latin typeface="Calibri" pitchFamily="34" charset="0"/>
                          <a:ea typeface="Calibri" pitchFamily="34" charset="-122"/>
                          <a:cs typeface="Calibri" pitchFamily="34" charset="-120"/>
                        </a:rPr>
                        <a:t>Default posture</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Auto mode with a safety classifier on paid plans; Manual asks for edits, shell, network</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Untrusted folder starts Read only; trusted folder gets Auto (workspace-write, on-request)</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Allow by default; prompts only for external directories and loops</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00" b="1" dirty="0">
                          <a:solidFill>
                            <a:srgbClr val="F5B341"/>
                          </a:solidFill>
                          <a:latin typeface="Calibri" pitchFamily="34" charset="0"/>
                          <a:ea typeface="Calibri" pitchFamily="34" charset="-122"/>
                          <a:cs typeface="Calibri" pitchFamily="34" charset="-120"/>
                        </a:rPr>
                        <a:t>Destructive-command guards</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rm on root, home, C:\ or project parent always prompts; classifier blocks rm -rf ~, curl | bash, force push</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.git and .codex read-only inside the sandbox; no dedicated rm heuristics</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Only what you configure, e.g. "rm *": "deny"</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00" b="1" dirty="0">
                          <a:solidFill>
                            <a:srgbClr val="F5B341"/>
                          </a:solidFill>
                          <a:latin typeface="Calibri" pitchFamily="34" charset="0"/>
                          <a:ea typeface="Calibri" pitchFamily="34" charset="-122"/>
                          <a:cs typeface="Calibri" pitchFamily="34" charset="-120"/>
                        </a:rPr>
                        <a:t>Prompt-injection defenses</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Web fetch in isolated context; classifier flags actions driven by hostile content</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Cached web search; network off by default; cloud egress allowlists, GET-only option</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None documented beyond permissions</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00" b="1" dirty="0">
                          <a:solidFill>
                            <a:srgbClr val="F5B341"/>
                          </a:solidFill>
                          <a:latin typeface="Calibri" pitchFamily="34" charset="0"/>
                          <a:ea typeface="Calibri" pitchFamily="34" charset="-122"/>
                          <a:cs typeface="Calibri" pitchFamily="34" charset="-120"/>
                        </a:rPr>
                        <a:t>Secrets and data</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Keychain on macOS; sandbox can block ~/.ssh and ~/.aws reads; cloud uses scoped Git credentials</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Project trust levels; untrusted projects ignore repo hooks and config</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auth.json is plain JSON; .env denied by default; /share uploads full sessions to a public link</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00" b="1" dirty="0">
                          <a:solidFill>
                            <a:srgbClr val="F5B341"/>
                          </a:solidFill>
                          <a:latin typeface="Calibri" pitchFamily="34" charset="0"/>
                          <a:ea typeface="Calibri" pitchFamily="34" charset="-122"/>
                          <a:cs typeface="Calibri" pitchFamily="34" charset="-120"/>
                        </a:rPr>
                        <a:t>Enterprise controls</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Managed settings: disable Local sessions, Bypass, Auto; lock sandbox domains</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requirements.toml pins approval policy, sandbox mode and network</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Config files only; no central policy channel</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r h="365760">
                <a:tc>
                  <a:txBody>
                    <a:bodyPr/>
                    <a:lstStyle/>
                    <a:p>
                      <a:pPr indent="0" marL="0">
                        <a:buNone/>
                      </a:pPr>
                      <a:r>
                        <a:rPr lang="en-US" sz="1000" b="1" dirty="0">
                          <a:solidFill>
                            <a:srgbClr val="F5B341"/>
                          </a:solidFill>
                          <a:latin typeface="Calibri" pitchFamily="34" charset="0"/>
                          <a:ea typeface="Calibri" pitchFamily="34" charset="-122"/>
                          <a:cs typeface="Calibri" pitchFamily="34" charset="-120"/>
                        </a:rPr>
                        <a:t>Openness</a:t>
                      </a:r>
                      <a:endParaRPr lang="en-US" sz="10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141E33"/>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Closed source; sandbox runtime is open source</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Agent core is open source (Rust)</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c>
                  <a:txBody>
                    <a:bodyPr/>
                    <a:lstStyle/>
                    <a:p>
                      <a:pPr indent="0" marL="0">
                        <a:buNone/>
                      </a:pPr>
                      <a:r>
                        <a:rPr lang="en-US" sz="900" dirty="0">
                          <a:solidFill>
                            <a:srgbClr val="EAF0FA"/>
                          </a:solidFill>
                          <a:latin typeface="Calibri" pitchFamily="34" charset="0"/>
                          <a:ea typeface="Calibri" pitchFamily="34" charset="-122"/>
                          <a:cs typeface="Calibri" pitchFamily="34" charset="-120"/>
                        </a:rPr>
                        <a:t>Fully open source (MIT); local models supported</a:t>
                      </a:r>
                      <a:endParaRPr lang="en-US" sz="900" dirty="0">
                        <a:latin typeface="Calibri" charset="0"/>
                        <a:ea typeface="Calibri" charset="0"/>
                        <a:cs typeface="Calibri" charset="0"/>
                      </a:endParaRPr>
                    </a:p>
                  </a:txBody>
                  <a:tcPr marL="45720" marR="45720" marT="45720" marB="45720" anchor="ctr">
                    <a:lnL w="9525" cap="flat" cmpd="sng" algn="ctr">
                      <a:solidFill>
                        <a:srgbClr val="2B3A57"/>
                      </a:solidFill>
                      <a:prstDash val="solid"/>
                      <a:round/>
                      <a:headEnd type="none" w="med" len="med"/>
                      <a:tailEnd type="none" w="med" len="med"/>
                    </a:lnL>
                    <a:lnR w="9525" cap="flat" cmpd="sng" algn="ctr">
                      <a:solidFill>
                        <a:srgbClr val="2B3A57"/>
                      </a:solidFill>
                      <a:prstDash val="solid"/>
                      <a:round/>
                      <a:headEnd type="none" w="med" len="med"/>
                      <a:tailEnd type="none" w="med" len="med"/>
                    </a:lnR>
                    <a:lnT w="9525" cap="flat" cmpd="sng" algn="ctr">
                      <a:solidFill>
                        <a:srgbClr val="2B3A57"/>
                      </a:solidFill>
                      <a:prstDash val="solid"/>
                      <a:round/>
                      <a:headEnd type="none" w="med" len="med"/>
                      <a:tailEnd type="none" w="med" len="med"/>
                    </a:lnT>
                    <a:lnB w="9525" cap="flat" cmpd="sng" algn="ctr">
                      <a:solidFill>
                        <a:srgbClr val="2B3A57"/>
                      </a:solidFill>
                      <a:prstDash val="solid"/>
                      <a:round/>
                      <a:headEnd type="none" w="med" len="med"/>
                      <a:tailEnd type="none" w="med" len="med"/>
                    </a:lnB>
                    <a:solidFill>
                      <a:srgbClr val="0B1220"/>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It has happened with all three</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Public reports of deletions outside the repository, 2025 to 2026</a:t>
            </a:r>
            <a:endParaRPr lang="en-US" sz="1300" dirty="0"/>
          </a:p>
        </p:txBody>
      </p:sp>
      <p:sp>
        <p:nvSpPr>
          <p:cNvPr id="4" name="Shape 2"/>
          <p:cNvSpPr/>
          <p:nvPr/>
        </p:nvSpPr>
        <p:spPr>
          <a:xfrm>
            <a:off x="457200" y="1325880"/>
            <a:ext cx="2697480" cy="3291840"/>
          </a:xfrm>
          <a:prstGeom prst="roundRect">
            <a:avLst>
              <a:gd name="adj" fmla="val 4068"/>
            </a:avLst>
          </a:prstGeom>
          <a:solidFill>
            <a:srgbClr val="141E33"/>
          </a:solidFill>
          <a:ln w="12700">
            <a:solidFill>
              <a:srgbClr val="2B3A57"/>
            </a:solidFill>
            <a:prstDash val="solid"/>
          </a:ln>
        </p:spPr>
      </p:sp>
      <p:sp>
        <p:nvSpPr>
          <p:cNvPr id="5" name="Shape 3"/>
          <p:cNvSpPr/>
          <p:nvPr/>
        </p:nvSpPr>
        <p:spPr>
          <a:xfrm>
            <a:off x="640080" y="1463040"/>
            <a:ext cx="384048" cy="384048"/>
          </a:xfrm>
          <a:prstGeom prst="ellipse">
            <a:avLst/>
          </a:prstGeom>
          <a:solidFill>
            <a:srgbClr val="F5B341"/>
          </a:solidFill>
          <a:ln w="12700">
            <a:solidFill>
              <a:srgbClr val="F5B341"/>
            </a:solidFill>
            <a:prstDash val="solid"/>
          </a:ln>
        </p:spPr>
      </p:sp>
      <p:pic>
        <p:nvPicPr>
          <p:cNvPr id="6" name="Image 0" descr="preencoded.png">    </p:cNvPr>
          <p:cNvPicPr>
            <a:picLocks noChangeAspect="1"/>
          </p:cNvPicPr>
          <p:nvPr/>
        </p:nvPicPr>
        <p:blipFill>
          <a:blip r:embed="rId1"/>
          <a:stretch>
            <a:fillRect/>
          </a:stretch>
        </p:blipFill>
        <p:spPr>
          <a:xfrm>
            <a:off x="736092" y="1559052"/>
            <a:ext cx="192024" cy="192024"/>
          </a:xfrm>
          <a:prstGeom prst="rect">
            <a:avLst/>
          </a:prstGeom>
        </p:spPr>
      </p:pic>
      <p:sp>
        <p:nvSpPr>
          <p:cNvPr id="7" name="Text 4"/>
          <p:cNvSpPr txBox="1"/>
          <p:nvPr/>
        </p:nvSpPr>
        <p:spPr>
          <a:xfrm>
            <a:off x="1115568" y="1490472"/>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Claude Code</a:t>
            </a:r>
            <a:endParaRPr lang="en-US" sz="1400" dirty="0"/>
          </a:p>
        </p:txBody>
      </p:sp>
      <p:sp>
        <p:nvSpPr>
          <p:cNvPr id="8" name="Text 5"/>
          <p:cNvSpPr txBox="1"/>
          <p:nvPr/>
        </p:nvSpPr>
        <p:spPr>
          <a:xfrm>
            <a:off x="640080" y="1965960"/>
            <a:ext cx="2377440" cy="320040"/>
          </a:xfrm>
          <a:prstGeom prst="rect">
            <a:avLst/>
          </a:prstGeom>
          <a:noFill/>
          <a:ln/>
        </p:spPr>
        <p:txBody>
          <a:bodyPr wrap="square" lIns="0" tIns="0" rIns="0" bIns="0" rtlCol="0" anchor="ctr"/>
          <a:lstStyle/>
          <a:p>
            <a:pPr indent="0" marL="0">
              <a:buNone/>
            </a:pPr>
            <a:r>
              <a:rPr lang="en-US" sz="1050" b="1" dirty="0">
                <a:solidFill>
                  <a:srgbClr val="F5B341"/>
                </a:solidFill>
                <a:latin typeface="Courier New" pitchFamily="34" charset="0"/>
                <a:ea typeface="Courier New" pitchFamily="34" charset="-122"/>
                <a:cs typeface="Courier New" pitchFamily="34" charset="-120"/>
              </a:rPr>
              <a:t>rm -rf tests/ patches/ plan/ ~/</a:t>
            </a:r>
            <a:endParaRPr lang="en-US" sz="1050" dirty="0"/>
          </a:p>
        </p:txBody>
      </p:sp>
      <p:sp>
        <p:nvSpPr>
          <p:cNvPr id="9" name="Text 6"/>
          <p:cNvSpPr txBox="1"/>
          <p:nvPr/>
        </p:nvSpPr>
        <p:spPr>
          <a:xfrm>
            <a:off x="640080" y="2331720"/>
            <a:ext cx="2377440" cy="1508760"/>
          </a:xfrm>
          <a:prstGeom prst="rect">
            <a:avLst/>
          </a:prstGeom>
          <a:noFill/>
          <a:ln/>
        </p:spPr>
        <p:txBody>
          <a:bodyPr wrap="square" lIns="0" tIns="0" rIns="0" bIns="0" rtlCol="0" anchor="t"/>
          <a:lstStyle/>
          <a:p>
            <a:pPr indent="0" marL="0">
              <a:buNone/>
            </a:pPr>
            <a:r>
              <a:rPr lang="en-US" sz="1000" dirty="0">
                <a:solidFill>
                  <a:srgbClr val="9FB0C8"/>
                </a:solidFill>
                <a:latin typeface="Calibri" pitchFamily="34" charset="0"/>
                <a:ea typeface="Calibri" pitchFamily="34" charset="-122"/>
                <a:cs typeface="Calibri" pitchFamily="34" charset="-120"/>
              </a:rPr>
              <a:t>Dec 2025, macOS: a cleanup task ended with the user's home directory. Mar 2026, Windows 11: Git Bash rm deleted files across C:\. Apr 2026, Windows, Accept-edits mode: parent folder removed, about 50 GB.</a:t>
            </a:r>
            <a:endParaRPr lang="en-US" sz="1000" dirty="0"/>
          </a:p>
        </p:txBody>
      </p:sp>
      <p:sp>
        <p:nvSpPr>
          <p:cNvPr id="10" name="Text 7"/>
          <p:cNvSpPr txBox="1"/>
          <p:nvPr/>
        </p:nvSpPr>
        <p:spPr>
          <a:xfrm>
            <a:off x="640080" y="3931920"/>
            <a:ext cx="2377440" cy="594360"/>
          </a:xfrm>
          <a:prstGeom prst="rect">
            <a:avLst/>
          </a:prstGeom>
          <a:noFill/>
          <a:ln/>
        </p:spPr>
        <p:txBody>
          <a:bodyPr wrap="square" lIns="0" tIns="0" rIns="0" bIns="0" rtlCol="0" anchor="t"/>
          <a:lstStyle/>
          <a:p>
            <a:pPr indent="0" marL="0">
              <a:buNone/>
            </a:pPr>
            <a:r>
              <a:rPr lang="en-US" sz="1000" i="1" dirty="0">
                <a:solidFill>
                  <a:srgbClr val="EAF0FA"/>
                </a:solidFill>
                <a:latin typeface="Calibri" pitchFamily="34" charset="0"/>
                <a:ea typeface="Calibri" pitchFamily="34" charset="-122"/>
                <a:cs typeface="Calibri" pitchFamily="34" charset="-120"/>
              </a:rPr>
              <a:t>Policy checks read the command; the shell expanded ~ afterwards.</a:t>
            </a:r>
            <a:endParaRPr lang="en-US" sz="1000" dirty="0"/>
          </a:p>
        </p:txBody>
      </p:sp>
      <p:sp>
        <p:nvSpPr>
          <p:cNvPr id="11" name="Shape 8"/>
          <p:cNvSpPr/>
          <p:nvPr/>
        </p:nvSpPr>
        <p:spPr>
          <a:xfrm>
            <a:off x="3268980" y="1325880"/>
            <a:ext cx="2697480" cy="3291840"/>
          </a:xfrm>
          <a:prstGeom prst="roundRect">
            <a:avLst>
              <a:gd name="adj" fmla="val 4068"/>
            </a:avLst>
          </a:prstGeom>
          <a:solidFill>
            <a:srgbClr val="141E33"/>
          </a:solidFill>
          <a:ln w="12700">
            <a:solidFill>
              <a:srgbClr val="2B3A57"/>
            </a:solidFill>
            <a:prstDash val="solid"/>
          </a:ln>
        </p:spPr>
      </p:sp>
      <p:sp>
        <p:nvSpPr>
          <p:cNvPr id="12" name="Shape 9"/>
          <p:cNvSpPr/>
          <p:nvPr/>
        </p:nvSpPr>
        <p:spPr>
          <a:xfrm>
            <a:off x="3451860" y="1463040"/>
            <a:ext cx="384048" cy="384048"/>
          </a:xfrm>
          <a:prstGeom prst="ellipse">
            <a:avLst/>
          </a:prstGeom>
          <a:solidFill>
            <a:srgbClr val="5BA8FF"/>
          </a:solidFill>
          <a:ln w="12700">
            <a:solidFill>
              <a:srgbClr val="5BA8FF"/>
            </a:solidFill>
            <a:prstDash val="solid"/>
          </a:ln>
        </p:spPr>
      </p:sp>
      <p:pic>
        <p:nvPicPr>
          <p:cNvPr id="13" name="Image 1" descr="preencoded.png">    </p:cNvPr>
          <p:cNvPicPr>
            <a:picLocks noChangeAspect="1"/>
          </p:cNvPicPr>
          <p:nvPr/>
        </p:nvPicPr>
        <p:blipFill>
          <a:blip r:embed="rId2"/>
          <a:stretch>
            <a:fillRect/>
          </a:stretch>
        </p:blipFill>
        <p:spPr>
          <a:xfrm>
            <a:off x="3547872" y="1559052"/>
            <a:ext cx="192024" cy="192024"/>
          </a:xfrm>
          <a:prstGeom prst="rect">
            <a:avLst/>
          </a:prstGeom>
        </p:spPr>
      </p:pic>
      <p:sp>
        <p:nvSpPr>
          <p:cNvPr id="14" name="Text 10"/>
          <p:cNvSpPr txBox="1"/>
          <p:nvPr/>
        </p:nvSpPr>
        <p:spPr>
          <a:xfrm>
            <a:off x="3927348" y="1490472"/>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Codex</a:t>
            </a:r>
            <a:endParaRPr lang="en-US" sz="1400" dirty="0"/>
          </a:p>
        </p:txBody>
      </p:sp>
      <p:sp>
        <p:nvSpPr>
          <p:cNvPr id="15" name="Text 11"/>
          <p:cNvSpPr txBox="1"/>
          <p:nvPr/>
        </p:nvSpPr>
        <p:spPr>
          <a:xfrm>
            <a:off x="3451860" y="1965960"/>
            <a:ext cx="2377440" cy="320040"/>
          </a:xfrm>
          <a:prstGeom prst="rect">
            <a:avLst/>
          </a:prstGeom>
          <a:noFill/>
          <a:ln/>
        </p:spPr>
        <p:txBody>
          <a:bodyPr wrap="square" lIns="0" tIns="0" rIns="0" bIns="0" rtlCol="0" anchor="ctr"/>
          <a:lstStyle/>
          <a:p>
            <a:pPr indent="0" marL="0">
              <a:buNone/>
            </a:pPr>
            <a:r>
              <a:rPr lang="en-US" sz="1050" b="1" dirty="0">
                <a:solidFill>
                  <a:srgbClr val="5BA8FF"/>
                </a:solidFill>
                <a:latin typeface="Courier New" pitchFamily="34" charset="0"/>
                <a:ea typeface="Courier New" pitchFamily="34" charset="-122"/>
                <a:cs typeface="Courier New" pitchFamily="34" charset="-120"/>
              </a:rPr>
              <a:t>Full access + approvals off</a:t>
            </a:r>
            <a:endParaRPr lang="en-US" sz="1050" dirty="0"/>
          </a:p>
        </p:txBody>
      </p:sp>
      <p:sp>
        <p:nvSpPr>
          <p:cNvPr id="16" name="Text 12"/>
          <p:cNvSpPr txBox="1"/>
          <p:nvPr/>
        </p:nvSpPr>
        <p:spPr>
          <a:xfrm>
            <a:off x="3451860" y="2331720"/>
            <a:ext cx="2377440" cy="1508760"/>
          </a:xfrm>
          <a:prstGeom prst="rect">
            <a:avLst/>
          </a:prstGeom>
          <a:noFill/>
          <a:ln/>
        </p:spPr>
        <p:txBody>
          <a:bodyPr wrap="square" lIns="0" tIns="0" rIns="0" bIns="0" rtlCol="0" anchor="t"/>
          <a:lstStyle/>
          <a:p>
            <a:pPr indent="0" marL="0">
              <a:buNone/>
            </a:pPr>
            <a:r>
              <a:rPr lang="en-US" sz="1000" dirty="0">
                <a:solidFill>
                  <a:srgbClr val="9FB0C8"/>
                </a:solidFill>
                <a:latin typeface="Calibri" pitchFamily="34" charset="0"/>
                <a:ea typeface="Calibri" pitchFamily="34" charset="-122"/>
                <a:cs typeface="Calibri" pitchFamily="34" charset="-120"/>
              </a:rPr>
              <a:t>Apr 2026, Windows desktop app: a failed archive step deleted more than ten workspace roots under C:\src and folders under Program Files (x86). Jul 2026: recursive PowerShell delete wiped a repo including .git.</a:t>
            </a:r>
            <a:endParaRPr lang="en-US" sz="1000" dirty="0"/>
          </a:p>
        </p:txBody>
      </p:sp>
      <p:sp>
        <p:nvSpPr>
          <p:cNvPr id="17" name="Text 13"/>
          <p:cNvSpPr txBox="1"/>
          <p:nvPr/>
        </p:nvSpPr>
        <p:spPr>
          <a:xfrm>
            <a:off x="3451860" y="3931920"/>
            <a:ext cx="2377440" cy="594360"/>
          </a:xfrm>
          <a:prstGeom prst="rect">
            <a:avLst/>
          </a:prstGeom>
          <a:noFill/>
          <a:ln/>
        </p:spPr>
        <p:txBody>
          <a:bodyPr wrap="square" lIns="0" tIns="0" rIns="0" bIns="0" rtlCol="0" anchor="t"/>
          <a:lstStyle/>
          <a:p>
            <a:pPr indent="0" marL="0">
              <a:buNone/>
            </a:pPr>
            <a:r>
              <a:rPr lang="en-US" sz="1000" i="1" dirty="0">
                <a:solidFill>
                  <a:srgbClr val="EAF0FA"/>
                </a:solidFill>
                <a:latin typeface="Calibri" pitchFamily="34" charset="0"/>
                <a:ea typeface="Calibri" pitchFamily="34" charset="-122"/>
                <a:cs typeface="Calibri" pitchFamily="34" charset="-120"/>
              </a:rPr>
              <a:t>No verified escape of Seatbelt or bubblewrap; the wall was switched off.</a:t>
            </a:r>
            <a:endParaRPr lang="en-US" sz="1000" dirty="0"/>
          </a:p>
        </p:txBody>
      </p:sp>
      <p:sp>
        <p:nvSpPr>
          <p:cNvPr id="18" name="Shape 14"/>
          <p:cNvSpPr/>
          <p:nvPr/>
        </p:nvSpPr>
        <p:spPr>
          <a:xfrm>
            <a:off x="6080760" y="1325880"/>
            <a:ext cx="2697480" cy="3291840"/>
          </a:xfrm>
          <a:prstGeom prst="roundRect">
            <a:avLst>
              <a:gd name="adj" fmla="val 4068"/>
            </a:avLst>
          </a:prstGeom>
          <a:solidFill>
            <a:srgbClr val="141E33"/>
          </a:solidFill>
          <a:ln w="12700">
            <a:solidFill>
              <a:srgbClr val="2B3A57"/>
            </a:solidFill>
            <a:prstDash val="solid"/>
          </a:ln>
        </p:spPr>
      </p:sp>
      <p:sp>
        <p:nvSpPr>
          <p:cNvPr id="19" name="Shape 15"/>
          <p:cNvSpPr/>
          <p:nvPr/>
        </p:nvSpPr>
        <p:spPr>
          <a:xfrm>
            <a:off x="6263640" y="1463040"/>
            <a:ext cx="384048" cy="384048"/>
          </a:xfrm>
          <a:prstGeom prst="ellipse">
            <a:avLst/>
          </a:prstGeom>
          <a:solidFill>
            <a:srgbClr val="FF6B6B"/>
          </a:solidFill>
          <a:ln w="12700">
            <a:solidFill>
              <a:srgbClr val="FF6B6B"/>
            </a:solidFill>
            <a:prstDash val="solid"/>
          </a:ln>
        </p:spPr>
      </p:sp>
      <p:pic>
        <p:nvPicPr>
          <p:cNvPr id="20" name="Image 2" descr="preencoded.png">    </p:cNvPr>
          <p:cNvPicPr>
            <a:picLocks noChangeAspect="1"/>
          </p:cNvPicPr>
          <p:nvPr/>
        </p:nvPicPr>
        <p:blipFill>
          <a:blip r:embed="rId3"/>
          <a:stretch>
            <a:fillRect/>
          </a:stretch>
        </p:blipFill>
        <p:spPr>
          <a:xfrm>
            <a:off x="6359652" y="1559052"/>
            <a:ext cx="192024" cy="192024"/>
          </a:xfrm>
          <a:prstGeom prst="rect">
            <a:avLst/>
          </a:prstGeom>
        </p:spPr>
      </p:pic>
      <p:sp>
        <p:nvSpPr>
          <p:cNvPr id="21" name="Text 16"/>
          <p:cNvSpPr txBox="1"/>
          <p:nvPr/>
        </p:nvSpPr>
        <p:spPr>
          <a:xfrm>
            <a:off x="6739128" y="1490472"/>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OpenCode</a:t>
            </a:r>
            <a:endParaRPr lang="en-US" sz="1400" dirty="0"/>
          </a:p>
        </p:txBody>
      </p:sp>
      <p:sp>
        <p:nvSpPr>
          <p:cNvPr id="22" name="Text 17"/>
          <p:cNvSpPr txBox="1"/>
          <p:nvPr/>
        </p:nvSpPr>
        <p:spPr>
          <a:xfrm>
            <a:off x="6263640" y="1965960"/>
            <a:ext cx="2377440" cy="320040"/>
          </a:xfrm>
          <a:prstGeom prst="rect">
            <a:avLst/>
          </a:prstGeom>
          <a:noFill/>
          <a:ln/>
        </p:spPr>
        <p:txBody>
          <a:bodyPr wrap="square" lIns="0" tIns="0" rIns="0" bIns="0" rtlCol="0" anchor="ctr"/>
          <a:lstStyle/>
          <a:p>
            <a:pPr indent="0" marL="0">
              <a:buNone/>
            </a:pPr>
            <a:r>
              <a:rPr lang="en-US" sz="1050" b="1" dirty="0">
                <a:solidFill>
                  <a:srgbClr val="FF6B6B"/>
                </a:solidFill>
                <a:latin typeface="Courier New" pitchFamily="34" charset="0"/>
                <a:ea typeface="Courier New" pitchFamily="34" charset="-122"/>
                <a:cs typeface="Courier New" pitchFamily="34" charset="-120"/>
              </a:rPr>
              <a:t>"Everything on the E drive"</a:t>
            </a:r>
            <a:endParaRPr lang="en-US" sz="1050" dirty="0"/>
          </a:p>
        </p:txBody>
      </p:sp>
      <p:sp>
        <p:nvSpPr>
          <p:cNvPr id="23" name="Text 18"/>
          <p:cNvSpPr txBox="1"/>
          <p:nvPr/>
        </p:nvSpPr>
        <p:spPr>
          <a:xfrm>
            <a:off x="6263640" y="2331720"/>
            <a:ext cx="2377440" cy="1508760"/>
          </a:xfrm>
          <a:prstGeom prst="rect">
            <a:avLst/>
          </a:prstGeom>
          <a:noFill/>
          <a:ln/>
        </p:spPr>
        <p:txBody>
          <a:bodyPr wrap="square" lIns="0" tIns="0" rIns="0" bIns="0" rtlCol="0" anchor="t"/>
          <a:lstStyle/>
          <a:p>
            <a:pPr indent="0" marL="0">
              <a:buNone/>
            </a:pPr>
            <a:r>
              <a:rPr lang="en-US" sz="1000" dirty="0">
                <a:solidFill>
                  <a:srgbClr val="9FB0C8"/>
                </a:solidFill>
                <a:latin typeface="Calibri" pitchFamily="34" charset="0"/>
                <a:ea typeface="Calibri" pitchFamily="34" charset="-122"/>
                <a:cs typeface="Calibri" pitchFamily="34" charset="-120"/>
              </a:rPr>
              <a:t>Jun 2026, v1.16: a cleanup task deleted a whole drive except files in use. Other reports: backups removed during broad cleanup tasks; symlink bypasses of the external-directory check, mostly fixed.</a:t>
            </a:r>
            <a:endParaRPr lang="en-US" sz="1000" dirty="0"/>
          </a:p>
        </p:txBody>
      </p:sp>
      <p:sp>
        <p:nvSpPr>
          <p:cNvPr id="24" name="Text 19"/>
          <p:cNvSpPr txBox="1"/>
          <p:nvPr/>
        </p:nvSpPr>
        <p:spPr>
          <a:xfrm>
            <a:off x="6263640" y="3931920"/>
            <a:ext cx="2377440" cy="594360"/>
          </a:xfrm>
          <a:prstGeom prst="rect">
            <a:avLst/>
          </a:prstGeom>
          <a:noFill/>
          <a:ln/>
        </p:spPr>
        <p:txBody>
          <a:bodyPr wrap="square" lIns="0" tIns="0" rIns="0" bIns="0" rtlCol="0" anchor="t"/>
          <a:lstStyle/>
          <a:p>
            <a:pPr indent="0" marL="0">
              <a:buNone/>
            </a:pPr>
            <a:r>
              <a:rPr lang="en-US" sz="1000" i="1" dirty="0">
                <a:solidFill>
                  <a:srgbClr val="EAF0FA"/>
                </a:solidFill>
                <a:latin typeface="Calibri" pitchFamily="34" charset="0"/>
                <a:ea typeface="Calibri" pitchFamily="34" charset="-122"/>
                <a:cs typeface="Calibri" pitchFamily="34" charset="-120"/>
              </a:rPr>
              <a:t>No sandbox to escape; the prompt was the only barrier.</a:t>
            </a:r>
            <a:endParaRPr lang="en-US" sz="1000" dirty="0"/>
          </a:p>
        </p:txBody>
      </p:sp>
      <p:sp>
        <p:nvSpPr>
          <p:cNvPr id="25" name="Text 20"/>
          <p:cNvSpPr txBox="1"/>
          <p:nvPr/>
        </p:nvSpPr>
        <p:spPr>
          <a:xfrm>
            <a:off x="457200" y="4754880"/>
            <a:ext cx="8229600" cy="274320"/>
          </a:xfrm>
          <a:prstGeom prst="rect">
            <a:avLst/>
          </a:prstGeom>
          <a:noFill/>
          <a:ln/>
        </p:spPr>
        <p:txBody>
          <a:bodyPr wrap="square" lIns="0" tIns="0" rIns="0" bIns="0" rtlCol="0" anchor="ctr"/>
          <a:lstStyle/>
          <a:p>
            <a:pPr indent="0" marL="0">
              <a:buNone/>
            </a:pPr>
            <a:r>
              <a:rPr lang="en-US" sz="900" dirty="0">
                <a:solidFill>
                  <a:srgbClr val="9FB0C8"/>
                </a:solidFill>
                <a:latin typeface="Calibri" pitchFamily="34" charset="0"/>
                <a:ea typeface="Calibri" pitchFamily="34" charset="-122"/>
                <a:cs typeface="Calibri" pitchFamily="34" charset="-120"/>
              </a:rPr>
              <a:t>Sources: anthropics/claude-code issues #33132, #49129; Docker blog; openai/codex issues #18509, #35707; anomalyco/opencode issues #31512, #33379, #7504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EAF0FA"/>
                </a:solidFill>
                <a:latin typeface="Calibri" pitchFamily="34" charset="0"/>
                <a:ea typeface="Calibri" pitchFamily="34" charset="-122"/>
                <a:cs typeface="Calibri" pitchFamily="34" charset="-120"/>
              </a:rPr>
              <a:t>Recommendations for Windows users</a:t>
            </a:r>
            <a:endParaRPr lang="en-US" sz="2800" dirty="0"/>
          </a:p>
        </p:txBody>
      </p:sp>
      <p:sp>
        <p:nvSpPr>
          <p:cNvPr id="3" name="Text 1"/>
          <p:cNvSpPr txBox="1"/>
          <p:nvPr/>
        </p:nvSpPr>
        <p:spPr>
          <a:xfrm>
            <a:off x="457200" y="850392"/>
            <a:ext cx="8229600" cy="320040"/>
          </a:xfrm>
          <a:prstGeom prst="rect">
            <a:avLst/>
          </a:prstGeom>
          <a:noFill/>
          <a:ln/>
        </p:spPr>
        <p:txBody>
          <a:bodyPr wrap="square" lIns="0" tIns="0" rIns="0" bIns="0" rtlCol="0" anchor="ctr"/>
          <a:lstStyle/>
          <a:p>
            <a:pPr indent="0" marL="0">
              <a:buNone/>
            </a:pPr>
            <a:r>
              <a:rPr lang="en-US" sz="1300" dirty="0">
                <a:solidFill>
                  <a:srgbClr val="9FB0C8"/>
                </a:solidFill>
                <a:latin typeface="Calibri" pitchFamily="34" charset="0"/>
                <a:ea typeface="Calibri" pitchFamily="34" charset="-122"/>
                <a:cs typeface="Calibri" pitchFamily="34" charset="-120"/>
              </a:rPr>
              <a:t>Get an enforced boundary, then tune the policy layer</a:t>
            </a:r>
            <a:endParaRPr lang="en-US" sz="1300" dirty="0"/>
          </a:p>
        </p:txBody>
      </p:sp>
      <p:sp>
        <p:nvSpPr>
          <p:cNvPr id="4" name="Shape 2"/>
          <p:cNvSpPr/>
          <p:nvPr/>
        </p:nvSpPr>
        <p:spPr>
          <a:xfrm>
            <a:off x="457200" y="1325880"/>
            <a:ext cx="2697480" cy="2743200"/>
          </a:xfrm>
          <a:prstGeom prst="roundRect">
            <a:avLst>
              <a:gd name="adj" fmla="val 4068"/>
            </a:avLst>
          </a:prstGeom>
          <a:solidFill>
            <a:srgbClr val="141E33"/>
          </a:solidFill>
          <a:ln w="12700">
            <a:solidFill>
              <a:srgbClr val="2B3A57"/>
            </a:solidFill>
            <a:prstDash val="solid"/>
          </a:ln>
        </p:spPr>
      </p:sp>
      <p:sp>
        <p:nvSpPr>
          <p:cNvPr id="5" name="Shape 3"/>
          <p:cNvSpPr/>
          <p:nvPr/>
        </p:nvSpPr>
        <p:spPr>
          <a:xfrm>
            <a:off x="640080" y="1463040"/>
            <a:ext cx="411480" cy="411480"/>
          </a:xfrm>
          <a:prstGeom prst="ellipse">
            <a:avLst/>
          </a:prstGeom>
          <a:solidFill>
            <a:srgbClr val="F5B341"/>
          </a:solidFill>
          <a:ln w="12700">
            <a:solidFill>
              <a:srgbClr val="F5B341"/>
            </a:solidFill>
            <a:prstDash val="solid"/>
          </a:ln>
        </p:spPr>
      </p:sp>
      <p:pic>
        <p:nvPicPr>
          <p:cNvPr id="6" name="Image 0" descr="preencoded.png">    </p:cNvPr>
          <p:cNvPicPr>
            <a:picLocks noChangeAspect="1"/>
          </p:cNvPicPr>
          <p:nvPr/>
        </p:nvPicPr>
        <p:blipFill>
          <a:blip r:embed="rId1"/>
          <a:stretch>
            <a:fillRect/>
          </a:stretch>
        </p:blipFill>
        <p:spPr>
          <a:xfrm>
            <a:off x="742950" y="1565910"/>
            <a:ext cx="205740" cy="205740"/>
          </a:xfrm>
          <a:prstGeom prst="rect">
            <a:avLst/>
          </a:prstGeom>
        </p:spPr>
      </p:pic>
      <p:sp>
        <p:nvSpPr>
          <p:cNvPr id="7" name="Text 4"/>
          <p:cNvSpPr txBox="1"/>
          <p:nvPr/>
        </p:nvSpPr>
        <p:spPr>
          <a:xfrm>
            <a:off x="1143000" y="1508760"/>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Claude Desktop</a:t>
            </a:r>
            <a:endParaRPr lang="en-US" sz="1400" dirty="0"/>
          </a:p>
        </p:txBody>
      </p:sp>
      <p:sp>
        <p:nvSpPr>
          <p:cNvPr id="8" name="Text 5"/>
          <p:cNvSpPr txBox="1"/>
          <p:nvPr/>
        </p:nvSpPr>
        <p:spPr>
          <a:xfrm>
            <a:off x="640080" y="2011680"/>
            <a:ext cx="2377440" cy="19659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Start sessions in the WSL environment and run /sandbox once; keep denyRead on ~/.ssh and ~/.aws.</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For untrusted repos use a Cloud session; never enable Bypass on the host.</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Keep Auto or Manual; add deny rules for rm -rf and curl | bash in settings.</a:t>
            </a:r>
            <a:endParaRPr lang="en-US" sz="1050" dirty="0"/>
          </a:p>
        </p:txBody>
      </p:sp>
      <p:sp>
        <p:nvSpPr>
          <p:cNvPr id="9" name="Shape 6"/>
          <p:cNvSpPr/>
          <p:nvPr/>
        </p:nvSpPr>
        <p:spPr>
          <a:xfrm>
            <a:off x="3268980" y="1325880"/>
            <a:ext cx="2697480" cy="2743200"/>
          </a:xfrm>
          <a:prstGeom prst="roundRect">
            <a:avLst>
              <a:gd name="adj" fmla="val 4068"/>
            </a:avLst>
          </a:prstGeom>
          <a:solidFill>
            <a:srgbClr val="141E33"/>
          </a:solidFill>
          <a:ln w="12700">
            <a:solidFill>
              <a:srgbClr val="2B3A57"/>
            </a:solidFill>
            <a:prstDash val="solid"/>
          </a:ln>
        </p:spPr>
      </p:sp>
      <p:sp>
        <p:nvSpPr>
          <p:cNvPr id="10" name="Shape 7"/>
          <p:cNvSpPr/>
          <p:nvPr/>
        </p:nvSpPr>
        <p:spPr>
          <a:xfrm>
            <a:off x="3451860" y="1463040"/>
            <a:ext cx="411480" cy="411480"/>
          </a:xfrm>
          <a:prstGeom prst="ellipse">
            <a:avLst/>
          </a:prstGeom>
          <a:solidFill>
            <a:srgbClr val="5BA8FF"/>
          </a:solidFill>
          <a:ln w="12700">
            <a:solidFill>
              <a:srgbClr val="5BA8FF"/>
            </a:solidFill>
            <a:prstDash val="solid"/>
          </a:ln>
        </p:spPr>
      </p:sp>
      <p:pic>
        <p:nvPicPr>
          <p:cNvPr id="11" name="Image 1" descr="preencoded.png">    </p:cNvPr>
          <p:cNvPicPr>
            <a:picLocks noChangeAspect="1"/>
          </p:cNvPicPr>
          <p:nvPr/>
        </p:nvPicPr>
        <p:blipFill>
          <a:blip r:embed="rId2"/>
          <a:stretch>
            <a:fillRect/>
          </a:stretch>
        </p:blipFill>
        <p:spPr>
          <a:xfrm>
            <a:off x="3554730" y="1565910"/>
            <a:ext cx="205740" cy="205740"/>
          </a:xfrm>
          <a:prstGeom prst="rect">
            <a:avLst/>
          </a:prstGeom>
        </p:spPr>
      </p:pic>
      <p:sp>
        <p:nvSpPr>
          <p:cNvPr id="12" name="Text 8"/>
          <p:cNvSpPr txBox="1"/>
          <p:nvPr/>
        </p:nvSpPr>
        <p:spPr>
          <a:xfrm>
            <a:off x="3954780" y="1508760"/>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ChatGPT / Codex</a:t>
            </a:r>
            <a:endParaRPr lang="en-US" sz="1400" dirty="0"/>
          </a:p>
        </p:txBody>
      </p:sp>
      <p:sp>
        <p:nvSpPr>
          <p:cNvPr id="13" name="Text 9"/>
          <p:cNvSpPr txBox="1"/>
          <p:nvPr/>
        </p:nvSpPr>
        <p:spPr>
          <a:xfrm>
            <a:off x="3451860" y="2011680"/>
            <a:ext cx="2377440" cy="19659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Install the elevated Windows sandbox (admin once) or run under WSL 2.</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Stay in Auto (workspace-write, network off). Treat every "run outside sandbox" approval as a Full-access moment.</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Never use Full access outside a disposable container.</a:t>
            </a:r>
            <a:endParaRPr lang="en-US" sz="1050" dirty="0"/>
          </a:p>
        </p:txBody>
      </p:sp>
      <p:sp>
        <p:nvSpPr>
          <p:cNvPr id="14" name="Shape 10"/>
          <p:cNvSpPr/>
          <p:nvPr/>
        </p:nvSpPr>
        <p:spPr>
          <a:xfrm>
            <a:off x="6080760" y="1325880"/>
            <a:ext cx="2697480" cy="2743200"/>
          </a:xfrm>
          <a:prstGeom prst="roundRect">
            <a:avLst>
              <a:gd name="adj" fmla="val 4068"/>
            </a:avLst>
          </a:prstGeom>
          <a:solidFill>
            <a:srgbClr val="141E33"/>
          </a:solidFill>
          <a:ln w="12700">
            <a:solidFill>
              <a:srgbClr val="2B3A57"/>
            </a:solidFill>
            <a:prstDash val="solid"/>
          </a:ln>
        </p:spPr>
      </p:sp>
      <p:sp>
        <p:nvSpPr>
          <p:cNvPr id="15" name="Shape 11"/>
          <p:cNvSpPr/>
          <p:nvPr/>
        </p:nvSpPr>
        <p:spPr>
          <a:xfrm>
            <a:off x="6263640" y="1463040"/>
            <a:ext cx="411480" cy="411480"/>
          </a:xfrm>
          <a:prstGeom prst="ellipse">
            <a:avLst/>
          </a:prstGeom>
          <a:solidFill>
            <a:srgbClr val="3DD68C"/>
          </a:solidFill>
          <a:ln w="12700">
            <a:solidFill>
              <a:srgbClr val="3DD68C"/>
            </a:solidFill>
            <a:prstDash val="solid"/>
          </a:ln>
        </p:spPr>
      </p:sp>
      <p:pic>
        <p:nvPicPr>
          <p:cNvPr id="16" name="Image 2" descr="preencoded.png">    </p:cNvPr>
          <p:cNvPicPr>
            <a:picLocks noChangeAspect="1"/>
          </p:cNvPicPr>
          <p:nvPr/>
        </p:nvPicPr>
        <p:blipFill>
          <a:blip r:embed="rId3"/>
          <a:stretch>
            <a:fillRect/>
          </a:stretch>
        </p:blipFill>
        <p:spPr>
          <a:xfrm>
            <a:off x="6366510" y="1565910"/>
            <a:ext cx="205740" cy="205740"/>
          </a:xfrm>
          <a:prstGeom prst="rect">
            <a:avLst/>
          </a:prstGeom>
        </p:spPr>
      </p:pic>
      <p:sp>
        <p:nvSpPr>
          <p:cNvPr id="17" name="Text 12"/>
          <p:cNvSpPr txBox="1"/>
          <p:nvPr/>
        </p:nvSpPr>
        <p:spPr>
          <a:xfrm>
            <a:off x="6766560" y="1508760"/>
            <a:ext cx="1920240" cy="320040"/>
          </a:xfrm>
          <a:prstGeom prst="rect">
            <a:avLst/>
          </a:prstGeom>
          <a:noFill/>
          <a:ln/>
        </p:spPr>
        <p:txBody>
          <a:bodyPr wrap="square" lIns="0" tIns="0" rIns="0" bIns="0" rtlCol="0" anchor="ctr"/>
          <a:lstStyle/>
          <a:p>
            <a:pPr indent="0" marL="0">
              <a:buNone/>
            </a:pPr>
            <a:r>
              <a:rPr lang="en-US" sz="1400" b="1" dirty="0">
                <a:solidFill>
                  <a:srgbClr val="EAF0FA"/>
                </a:solidFill>
                <a:latin typeface="Calibri" pitchFamily="34" charset="0"/>
                <a:ea typeface="Calibri" pitchFamily="34" charset="-122"/>
                <a:cs typeface="Calibri" pitchFamily="34" charset="-120"/>
              </a:rPr>
              <a:t>OpenCode Desktop</a:t>
            </a:r>
            <a:endParaRPr lang="en-US" sz="1400" dirty="0"/>
          </a:p>
        </p:txBody>
      </p:sp>
      <p:sp>
        <p:nvSpPr>
          <p:cNvPr id="18" name="Text 13"/>
          <p:cNvSpPr txBox="1"/>
          <p:nvPr/>
        </p:nvSpPr>
        <p:spPr>
          <a:xfrm>
            <a:off x="6263640" y="2011680"/>
            <a:ext cx="2377440" cy="19659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Run the server in Docker Sandboxes or a container and add it via "Add server"; WSL mode alone adds no sandbox.</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Set bash and edit to "ask" for the build agent; deny rm *, format, and git push --force.</a:t>
            </a:r>
            <a:endParaRPr lang="en-US" sz="1050" dirty="0"/>
          </a:p>
          <a:p>
            <a:pPr marL="152400" indent="-152400">
              <a:spcAft>
                <a:spcPts val="500"/>
              </a:spcAft>
              <a:buSzPct val="100000"/>
              <a:buChar char="•"/>
            </a:pPr>
            <a:r>
              <a:rPr lang="en-US" sz="1050" dirty="0">
                <a:solidFill>
                  <a:srgbClr val="EAF0FA"/>
                </a:solidFill>
                <a:latin typeface="Calibri" pitchFamily="34" charset="0"/>
                <a:ea typeface="Calibri" pitchFamily="34" charset="-122"/>
                <a:cs typeface="Calibri" pitchFamily="34" charset="-120"/>
              </a:rPr>
              <a:t>Set share to disabled; protect auth.json.</a:t>
            </a:r>
            <a:endParaRPr lang="en-US" sz="1050" dirty="0"/>
          </a:p>
        </p:txBody>
      </p:sp>
      <p:sp>
        <p:nvSpPr>
          <p:cNvPr id="19" name="Shape 14"/>
          <p:cNvSpPr/>
          <p:nvPr/>
        </p:nvSpPr>
        <p:spPr>
          <a:xfrm>
            <a:off x="457200" y="4206240"/>
            <a:ext cx="8229600" cy="502920"/>
          </a:xfrm>
          <a:prstGeom prst="roundRect">
            <a:avLst>
              <a:gd name="adj" fmla="val 18182"/>
            </a:avLst>
          </a:prstGeom>
          <a:solidFill>
            <a:srgbClr val="F5B341"/>
          </a:solidFill>
          <a:ln w="12700">
            <a:solidFill>
              <a:srgbClr val="F5B341"/>
            </a:solidFill>
            <a:prstDash val="solid"/>
          </a:ln>
        </p:spPr>
      </p:sp>
      <p:sp>
        <p:nvSpPr>
          <p:cNvPr id="20" name="Text 15"/>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For all three: commit before you start, keep backups outside the machine, and never run an agent in your home directory.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Desktop Coding Agents: Sandboxing &amp; Security</dc:title>
  <dc:subject>PptxGenJS Presentation</dc:subject>
  <dc:creator>Security comparison</dc:creator>
  <cp:lastModifiedBy>Security comparison</cp:lastModifiedBy>
  <cp:revision>1</cp:revision>
  <dcterms:created xsi:type="dcterms:W3CDTF">2026-09-05T18:01:41Z</dcterms:created>
  <dcterms:modified xsi:type="dcterms:W3CDTF">2026-09-05T18:01:41Z</dcterms:modified>
</cp:coreProperties>
</file>